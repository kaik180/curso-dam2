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B4"/>
          </a:solidFill>
          <a:ln>
            <a:solidFill>
              <a:srgbClr val="00D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2B4"/>
                </a:solidFill>
                <a:latin typeface="Calibri"/>
              </a:defRPr>
            </a:pPr>
            <a:r>
              <a:t>LeadCraft AI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01 / 03  •  EL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A192F"/>
                </a:solidFill>
                <a:latin typeface="Calibri"/>
              </a:defRPr>
            </a:pPr>
            <a:r>
              <a:t>1. Diagnóstico del Problema y Colectivos Afectados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¿Qué ocurre con la digitalización de los pequeños comercios locales?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E05624"/>
                </a:solidFill>
                <a:latin typeface="Calibri"/>
              </a:defRPr>
            </a:pPr>
            <a:r>
              <a:t>🚨 ¿QUÉ OCURRE?</a:t>
            </a:r>
          </a:p>
          <a:p>
            <a:pPr>
              <a:defRPr sz="1200" b="1">
                <a:solidFill>
                  <a:srgbClr val="0A192F"/>
                </a:solidFill>
                <a:latin typeface="Calibri"/>
              </a:defRPr>
            </a:pPr>
            <a:r>
              <a:t>• Desconexión Digital en el Barrio: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Miles de negocios locales solo tienen ficha en Google Maps pero carecen de web propia o citas online.</a:t>
            </a:r>
          </a:p>
          <a:p>
            <a:pPr>
              <a:defRPr sz="1200" b="1">
                <a:solidFill>
                  <a:srgbClr val="0A192F"/>
                </a:solidFill>
                <a:latin typeface="Calibri"/>
              </a:defRPr>
            </a:pPr>
            <a:r>
              <a:t>• Barreras de Coste y Tiempo: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Las agencias tradicionales cobran entre 800€ y 2.500€, un coste inasumible para pequeños comercios.</a:t>
            </a:r>
          </a:p>
          <a:p>
            <a:pPr>
              <a:defRPr sz="1200" b="1">
                <a:solidFill>
                  <a:srgbClr val="0A192F"/>
                </a:solidFill>
                <a:latin typeface="Calibri"/>
              </a:defRPr>
            </a:pPr>
            <a:r>
              <a:t>• Prospección Lenta e Ineficiente: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Los comerciales pierden semanas contactando en frío sin una propuesta visual que convenza al dueño.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600" b="1">
                <a:solidFill>
                  <a:srgbClr val="0D6EFD"/>
                </a:solidFill>
                <a:latin typeface="Calibri"/>
              </a:defRPr>
            </a:pPr>
            <a:r>
              <a:t>👥 ¿A QUIÉN AFECTA?</a:t>
            </a:r>
          </a:p>
          <a:p>
            <a:pPr>
              <a:defRPr sz="1200" b="1">
                <a:solidFill>
                  <a:srgbClr val="0A192F"/>
                </a:solidFill>
                <a:latin typeface="Calibri"/>
              </a:defRPr>
            </a:pPr>
            <a:r>
              <a:t>• Pymes y Comercios Locales: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Peluquerías, talleres, clínicas y bares que pierden clientes frente a franquicias por no tener reservas.</a:t>
            </a:r>
          </a:p>
          <a:p>
            <a:pPr>
              <a:defRPr sz="1200" b="1">
                <a:solidFill>
                  <a:srgbClr val="0A192F"/>
                </a:solidFill>
                <a:latin typeface="Calibri"/>
              </a:defRPr>
            </a:pPr>
            <a:r>
              <a:t>• Freelancers y Jóvenes Desarrolladores: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Buscan captar clientes de proximidad pero carecen de herramientas para auditar y generar demos rápidas.</a:t>
            </a:r>
          </a:p>
          <a:p>
            <a:pPr>
              <a:defRPr sz="1200" b="1">
                <a:solidFill>
                  <a:srgbClr val="0A192F"/>
                </a:solidFill>
                <a:latin typeface="Calibri"/>
              </a:defRPr>
            </a:pPr>
            <a:r>
              <a:t>• Economía Local y ODS 8:</a:t>
            </a:r>
          </a:p>
          <a:p>
            <a:pPr>
              <a:spcAft>
                <a:spcPts val="1000"/>
              </a:spcAft>
              <a:defRPr sz="1100">
                <a:solidFill>
                  <a:srgbClr val="232F3E"/>
                </a:solidFill>
                <a:latin typeface="Calibri"/>
              </a:defRPr>
            </a:pPr>
            <a:r>
              <a:t>   El comercio tradicional pierde competitividad. Resolverlo impulsa el ODS 8 y el ODS 9 (innovación accesible).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💡 IMPACTO: Alineado con ODS 8 (Trabajo Decente y Crecimiento Económico) y ODS 9 (Innovación en Pymes)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B4"/>
          </a:solidFill>
          <a:ln>
            <a:solidFill>
              <a:srgbClr val="00D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2B4"/>
                </a:solidFill>
                <a:latin typeface="Calibri"/>
              </a:defRPr>
            </a:pPr>
            <a:r>
              <a:t>LeadCraft AI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02 / 03  •  LA SOLUCIÓN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A192F"/>
                </a:solidFill>
                <a:latin typeface="Calibri"/>
              </a:defRPr>
            </a:pPr>
            <a:r>
              <a:t>2. LeadCraft AI: Propuesta Digital y Funcionalidades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Plataforma de prospección sobre Google Maps con auditoría y generador web con IA</a:t>
            </a:r>
          </a:p>
        </p:txBody>
      </p:sp>
      <p:pic>
        <p:nvPicPr>
          <p:cNvPr id="7" name="Picture 6" descr="mockup_leadcra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029200" cy="2806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35040" y="1645920"/>
            <a:ext cx="539496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500" b="1">
                <a:solidFill>
                  <a:srgbClr val="0A192F"/>
                </a:solidFill>
                <a:latin typeface="Calibri"/>
              </a:defRPr>
            </a:pPr>
            <a:r>
              <a:t>⚡ FUNCIONALIDADES CLAVE</a:t>
            </a:r>
          </a:p>
          <a:p>
            <a:pPr>
              <a:defRPr sz="1150" b="1">
                <a:solidFill>
                  <a:srgbClr val="00D2B4"/>
                </a:solidFill>
                <a:latin typeface="Calibri"/>
              </a:defRPr>
            </a:pPr>
            <a:r>
              <a:t>🗺️ Explorador Geográfico en Google Maps</a:t>
            </a:r>
          </a:p>
          <a:p>
            <a:pPr>
              <a:spcAft>
                <a:spcPts val="6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Localiza comercios por zona y sector (ej. peluquerías en Chamberí).</a:t>
            </a:r>
          </a:p>
          <a:p>
            <a:pPr>
              <a:defRPr sz="1150" b="1">
                <a:solidFill>
                  <a:srgbClr val="00D2B4"/>
                </a:solidFill>
                <a:latin typeface="Calibri"/>
              </a:defRPr>
            </a:pPr>
            <a:r>
              <a:t>🔍 Auditoría Digital Express en 3s</a:t>
            </a:r>
          </a:p>
          <a:p>
            <a:pPr>
              <a:spcAft>
                <a:spcPts val="6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Detecta si el local tiene web, SSL, reservas, redes y analiza reseñas.</a:t>
            </a:r>
          </a:p>
          <a:p>
            <a:pPr>
              <a:defRPr sz="1150" b="1">
                <a:solidFill>
                  <a:srgbClr val="00D2B4"/>
                </a:solidFill>
                <a:latin typeface="Calibri"/>
              </a:defRPr>
            </a:pPr>
            <a:r>
              <a:t>🤖 Generador de Landing Pages con IA</a:t>
            </a:r>
          </a:p>
          <a:p>
            <a:pPr>
              <a:spcAft>
                <a:spcPts val="6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Redacta contenido y monta la web usando datos de Maps (horarios, fotos).</a:t>
            </a:r>
          </a:p>
          <a:p>
            <a:pPr>
              <a:defRPr sz="1150" b="1">
                <a:solidFill>
                  <a:srgbClr val="00D2B4"/>
                </a:solidFill>
                <a:latin typeface="Calibri"/>
              </a:defRPr>
            </a:pPr>
            <a:r>
              <a:t>📅 Widget Integrado de Citas Online</a:t>
            </a:r>
          </a:p>
          <a:p>
            <a:pPr>
              <a:spcAft>
                <a:spcPts val="6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Incuba un calendario de citas con franjas horarias y botón de confirmación.</a:t>
            </a:r>
          </a:p>
          <a:p>
            <a:pPr>
              <a:defRPr sz="1150" b="1">
                <a:solidFill>
                  <a:srgbClr val="00D2B4"/>
                </a:solidFill>
                <a:latin typeface="Calibri"/>
              </a:defRPr>
            </a:pPr>
            <a:r>
              <a:t>💬 Dossier Comercial y Enlace WhatsApp</a:t>
            </a:r>
          </a:p>
          <a:p>
            <a:pPr>
              <a:spcAft>
                <a:spcPts val="6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Genera informe PDF de auditoría y mensaje listo para enviar al dueño.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🚀 Solución B2B SaaS • Arquitectura Modular y Aceleración con IA Generativa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2B4"/>
          </a:solidFill>
          <a:ln>
            <a:solidFill>
              <a:srgbClr val="00D2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7315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0D2B4"/>
                </a:solidFill>
                <a:latin typeface="Calibri"/>
              </a:defRPr>
            </a:pPr>
            <a:r>
              <a:t>LeadCraft AI  •  Proyecto Intermodular 2º DAM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828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Calibri"/>
              </a:defRPr>
            </a:pPr>
            <a:r>
              <a:t>03 / 03  •  VALOR AÑADIDO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"/>
            <a:ext cx="10698480" cy="9144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200"/>
              </a:spcAft>
              <a:defRPr sz="2400" b="1">
                <a:solidFill>
                  <a:srgbClr val="0A192F"/>
                </a:solidFill>
                <a:latin typeface="Calibri"/>
              </a:defRPr>
            </a:pPr>
            <a:r>
              <a:t>3. Valor Diferencial y Mejoras Futuras</a:t>
            </a:r>
          </a:p>
          <a:p>
            <a:pPr>
              <a:defRPr sz="1300">
                <a:solidFill>
                  <a:srgbClr val="64748B"/>
                </a:solidFill>
                <a:latin typeface="Calibri"/>
              </a:defRPr>
            </a:pPr>
            <a:r>
              <a:t>¿Por qué resulta útil esta solución y hacia dónde evoluciona?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500" b="1">
                <a:solidFill>
                  <a:srgbClr val="00D2B4"/>
                </a:solidFill>
                <a:latin typeface="Calibri"/>
              </a:defRPr>
            </a:pPr>
            <a:r>
              <a:t>🌟 VALOR AÑADIDO (¿POR QUÉ ES ÚTIL?)</a:t>
            </a:r>
          </a:p>
          <a:p>
            <a:pPr>
              <a:defRPr sz="1150" b="1">
                <a:solidFill>
                  <a:srgbClr val="0A192F"/>
                </a:solidFill>
                <a:latin typeface="Calibri"/>
              </a:defRPr>
            </a:pPr>
            <a:r>
              <a:t>✔ Demos Ya Construidas: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En lugar de promesas abstractas, el comercial llega con la web del negocio terminada para enseñar.</a:t>
            </a:r>
          </a:p>
          <a:p>
            <a:pPr>
              <a:defRPr sz="1150" b="1">
                <a:solidFill>
                  <a:srgbClr val="0A192F"/>
                </a:solidFill>
                <a:latin typeface="Calibri"/>
              </a:defRPr>
            </a:pPr>
            <a:r>
              <a:t>✔ Ahorro de Semanas de Trabajo: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Pasa de invertir 15 días en programar una web a generarla en 30 segundos con IA.</a:t>
            </a:r>
          </a:p>
          <a:p>
            <a:pPr>
              <a:defRPr sz="1150" b="1">
                <a:solidFill>
                  <a:srgbClr val="0A192F"/>
                </a:solidFill>
                <a:latin typeface="Calibri"/>
              </a:defRPr>
            </a:pPr>
            <a:r>
              <a:t>✔ Digitalización Real para la Pyme: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El dueño del negocio obtiene web con citas por una fracción del precio habitual.</a:t>
            </a:r>
          </a:p>
          <a:p>
            <a:pPr>
              <a:defRPr sz="1150" b="1">
                <a:solidFill>
                  <a:srgbClr val="0A192F"/>
                </a:solidFill>
                <a:latin typeface="Calibri"/>
              </a:defRPr>
            </a:pPr>
            <a:r>
              <a:t>✔ Generación de Nuevos Negocios: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Crea oportunidades laborales para jóvenes titulados de DAM en servicios digitales.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1500" b="1">
                <a:solidFill>
                  <a:srgbClr val="0D6EFD"/>
                </a:solidFill>
                <a:latin typeface="Calibri"/>
              </a:defRPr>
            </a:pPr>
            <a:r>
              <a:t>🚀 MEJORAS FUTURAS PREVISTAS</a:t>
            </a:r>
          </a:p>
          <a:p>
            <a:pPr>
              <a:defRPr sz="1150" b="1">
                <a:solidFill>
                  <a:srgbClr val="0A192F"/>
                </a:solidFill>
                <a:latin typeface="Calibri"/>
              </a:defRPr>
            </a:pPr>
            <a:r>
              <a:t>✦ Bot de WhatsApp con IA: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Atención automatizada 24/7 para responder preguntas y confirmar reservas por chat.</a:t>
            </a:r>
          </a:p>
          <a:p>
            <a:pPr>
              <a:defRPr sz="1150" b="1">
                <a:solidFill>
                  <a:srgbClr val="0A192F"/>
                </a:solidFill>
                <a:latin typeface="Calibri"/>
              </a:defRPr>
            </a:pPr>
            <a:r>
              <a:t>✦ Pagos Integrados con Stripe: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Cobro de fianzas o citas online directamente en la web generada.</a:t>
            </a:r>
          </a:p>
          <a:p>
            <a:pPr>
              <a:defRPr sz="1150" b="1">
                <a:solidFill>
                  <a:srgbClr val="0A192F"/>
                </a:solidFill>
                <a:latin typeface="Calibri"/>
              </a:defRPr>
            </a:pPr>
            <a:r>
              <a:t>✦ Despliegue Cloud en 1 Clic:</a:t>
            </a:r>
          </a:p>
          <a:p>
            <a:pPr>
              <a:spcAft>
                <a:spcPts val="800"/>
              </a:spcAft>
              <a:defRPr sz="1000">
                <a:solidFill>
                  <a:srgbClr val="232F3E"/>
                </a:solidFill>
                <a:latin typeface="Calibri"/>
              </a:defRPr>
            </a:pPr>
            <a:r>
              <a:t>   Publicación automatizada del código en Vercel/Netlify con dominio personalizado.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943600"/>
            <a:ext cx="10698480" cy="502920"/>
          </a:xfrm>
          <a:prstGeom prst="rect">
            <a:avLst/>
          </a:prstGeom>
          <a:solidFill>
            <a:srgbClr val="0A192F"/>
          </a:solidFill>
          <a:ln>
            <a:solidFill>
              <a:srgbClr val="0A19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🎯 LEADCRAFT AI  •  Proyecto Intermodular 2º DAM  •  Kevin Muñoz Córcoles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