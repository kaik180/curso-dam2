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2B4"/>
          </a:solidFill>
          <a:ln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2B4"/>
                </a:solidFill>
                <a:latin typeface="Calibri"/>
              </a:defRPr>
            </a:pPr>
            <a:r>
              <a:t>LeadCraft AI  •  Proyecto Intermodular 2º 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01 / 03  •  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A192F"/>
                </a:solidFill>
                <a:latin typeface="Calibri"/>
              </a:defRPr>
            </a:pPr>
            <a:r>
              <a:t>1. Diagnóstico del Problema y Colectivos Afectados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¿Por qué los comercios locales tienen dificultades para llevar su negocio en Internet?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E05624"/>
                </a:solidFill>
                <a:latin typeface="Calibri"/>
              </a:defRPr>
            </a:pPr>
            <a:r>
              <a:t>🚨 ¿QUÉ OCURRE?</a:t>
            </a:r>
          </a:p>
          <a:p>
            <a:pPr>
              <a:defRPr sz="1200" b="1">
                <a:solidFill>
                  <a:srgbClr val="0A192F"/>
                </a:solidFill>
                <a:latin typeface="Calibri"/>
              </a:defRPr>
            </a:pPr>
            <a:r>
              <a:t>• Sobrecarga en la Tienda Física:</a:t>
            </a:r>
          </a:p>
          <a:p>
            <a:pPr>
              <a:spcAft>
                <a:spcPts val="1000"/>
              </a:spcAft>
              <a:defRPr sz="1100">
                <a:solidFill>
                  <a:srgbClr val="232F3E"/>
                </a:solidFill>
                <a:latin typeface="Calibri"/>
              </a:defRPr>
            </a:pPr>
            <a:r>
              <a:t>   Los comerciantes atienden a clientes en local y carecen de tiempo para llevar citas, web y catálogo online.</a:t>
            </a:r>
          </a:p>
          <a:p>
            <a:pPr>
              <a:defRPr sz="1200" b="1">
                <a:solidFill>
                  <a:srgbClr val="0A192F"/>
                </a:solidFill>
                <a:latin typeface="Calibri"/>
              </a:defRPr>
            </a:pPr>
            <a:r>
              <a:t>• Costes Inasumibles de Agencias:</a:t>
            </a:r>
          </a:p>
          <a:p>
            <a:pPr>
              <a:spcAft>
                <a:spcPts val="1000"/>
              </a:spcAft>
              <a:defRPr sz="1100">
                <a:solidFill>
                  <a:srgbClr val="232F3E"/>
                </a:solidFill>
                <a:latin typeface="Calibri"/>
              </a:defRPr>
            </a:pPr>
            <a:r>
              <a:t>   Las agencias tradicionales cobran más de 1.000€ más cuotas altas, algo inviable para un negocio de barrio.</a:t>
            </a:r>
          </a:p>
          <a:p>
            <a:pPr>
              <a:defRPr sz="1200" b="1">
                <a:solidFill>
                  <a:srgbClr val="0A192F"/>
                </a:solidFill>
                <a:latin typeface="Calibri"/>
              </a:defRPr>
            </a:pPr>
            <a:r>
              <a:t>• Pérdida Continua de Clientes:</a:t>
            </a:r>
          </a:p>
          <a:p>
            <a:pPr>
              <a:spcAft>
                <a:spcPts val="1000"/>
              </a:spcAft>
              <a:defRPr sz="1100">
                <a:solidFill>
                  <a:srgbClr val="232F3E"/>
                </a:solidFill>
                <a:latin typeface="Calibri"/>
              </a:defRPr>
            </a:pPr>
            <a:r>
              <a:t>   Sin reservas online ni presencia digital cuidada, pierden ventas a diario frente a grandes franquicias.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D6EFD"/>
                </a:solidFill>
                <a:latin typeface="Calibri"/>
              </a:defRPr>
            </a:pPr>
            <a:r>
              <a:t>👥 ¿A QUIÉN AFECTA?</a:t>
            </a:r>
          </a:p>
          <a:p>
            <a:pPr>
              <a:defRPr sz="1200" b="1">
                <a:solidFill>
                  <a:srgbClr val="0A192F"/>
                </a:solidFill>
                <a:latin typeface="Calibri"/>
              </a:defRPr>
            </a:pPr>
            <a:r>
              <a:t>• Dueños de Tiendas y Comercios Locales:</a:t>
            </a:r>
          </a:p>
          <a:p>
            <a:pPr>
              <a:spcAft>
                <a:spcPts val="1000"/>
              </a:spcAft>
              <a:defRPr sz="1100">
                <a:solidFill>
                  <a:srgbClr val="232F3E"/>
                </a:solidFill>
                <a:latin typeface="Calibri"/>
              </a:defRPr>
            </a:pPr>
            <a:r>
              <a:t>   Peluquerías, talleres, clínicas y bares que necesitan digitalizarse sin complicaciones técnicas.</a:t>
            </a:r>
          </a:p>
          <a:p>
            <a:pPr>
              <a:defRPr sz="1200" b="1">
                <a:solidFill>
                  <a:srgbClr val="0A192F"/>
                </a:solidFill>
                <a:latin typeface="Calibri"/>
              </a:defRPr>
            </a:pPr>
            <a:r>
              <a:t>• Clientes y Vecinos del Barrio:</a:t>
            </a:r>
          </a:p>
          <a:p>
            <a:pPr>
              <a:spcAft>
                <a:spcPts val="1000"/>
              </a:spcAft>
              <a:defRPr sz="1100">
                <a:solidFill>
                  <a:srgbClr val="232F3E"/>
                </a:solidFill>
                <a:latin typeface="Calibri"/>
              </a:defRPr>
            </a:pPr>
            <a:r>
              <a:t>   Buscan pedir cita, consultar precios y contactar desde el móvil 24/7 sin llamadas en horario comercial.</a:t>
            </a:r>
          </a:p>
          <a:p>
            <a:pPr>
              <a:defRPr sz="1200" b="1">
                <a:solidFill>
                  <a:srgbClr val="0A192F"/>
                </a:solidFill>
                <a:latin typeface="Calibri"/>
              </a:defRPr>
            </a:pPr>
            <a:r>
              <a:t>• Titulados de DAM y Freelancers:</a:t>
            </a:r>
          </a:p>
          <a:p>
            <a:pPr>
              <a:spcAft>
                <a:spcPts val="1000"/>
              </a:spcAft>
              <a:defRPr sz="1100">
                <a:solidFill>
                  <a:srgbClr val="232F3E"/>
                </a:solidFill>
                <a:latin typeface="Calibri"/>
              </a:defRPr>
            </a:pPr>
            <a:r>
              <a:t>   Oportunidad de ofrecer y vender un servicio recurrente de gestión digital 'llave en mano' en su entorno.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💡 IMPACTO: Alineado con ODS 8 (Trabajo Decente y Crecimiento Económico) y ODS 9 (Innovación en Pymes)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2B4"/>
          </a:solidFill>
          <a:ln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2B4"/>
                </a:solidFill>
                <a:latin typeface="Calibri"/>
              </a:defRPr>
            </a:pPr>
            <a:r>
              <a:t>LeadCraft AI  •  Proyecto Intermodular 2º 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02 / 03  •  LA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A192F"/>
                </a:solidFill>
                <a:latin typeface="Calibri"/>
              </a:defRPr>
            </a:pPr>
            <a:r>
              <a:t>2. LeadCraft AI: Venta del Servicio Digital para Tiendas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Servicio 'todo en uno' para poner en marcha y llevar el negocio del comerciante en Internet</a:t>
            </a:r>
          </a:p>
        </p:txBody>
      </p:sp>
      <p:pic>
        <p:nvPicPr>
          <p:cNvPr id="7" name="Picture 6" descr="mockup_leadcra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28069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35040" y="1645920"/>
            <a:ext cx="53949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0A192F"/>
                </a:solidFill>
                <a:latin typeface="Calibri"/>
              </a:defRPr>
            </a:pPr>
            <a:r>
              <a:t>⚡ FUNCIONALIDADES CLAVE DEL SERVICIO</a:t>
            </a:r>
          </a:p>
          <a:p>
            <a:pPr>
              <a:defRPr sz="1150" b="1">
                <a:solidFill>
                  <a:srgbClr val="00D2B4"/>
                </a:solidFill>
                <a:latin typeface="Calibri"/>
              </a:defRPr>
            </a:pPr>
            <a:r>
              <a:t>🗺️ Prospección y Auditoría en Google Maps</a:t>
            </a:r>
          </a:p>
          <a:p>
            <a:pPr>
              <a:spcAft>
                <a:spcPts val="6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Localiza comercios y detecta carencias digitales (sin web, sin reservas).</a:t>
            </a:r>
          </a:p>
          <a:p>
            <a:pPr>
              <a:defRPr sz="1150" b="1">
                <a:solidFill>
                  <a:srgbClr val="00D2B4"/>
                </a:solidFill>
                <a:latin typeface="Calibri"/>
              </a:defRPr>
            </a:pPr>
            <a:r>
              <a:t>🤖 Web Asistida por IA para el Negocio</a:t>
            </a:r>
          </a:p>
          <a:p>
            <a:pPr>
              <a:spcAft>
                <a:spcPts val="6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Genera la web con horarios, catálogo y fotos extraídas de la ficha.</a:t>
            </a:r>
          </a:p>
          <a:p>
            <a:pPr>
              <a:defRPr sz="1150" b="1">
                <a:solidFill>
                  <a:srgbClr val="00D2B4"/>
                </a:solidFill>
                <a:latin typeface="Calibri"/>
              </a:defRPr>
            </a:pPr>
            <a:r>
              <a:t>📅 Sistema Integrado de Citas Online 24/7</a:t>
            </a:r>
          </a:p>
          <a:p>
            <a:pPr>
              <a:spcAft>
                <a:spcPts val="6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Calendario interactivo con franjas horarias y confirmación inmediata.</a:t>
            </a:r>
          </a:p>
          <a:p>
            <a:pPr>
              <a:defRPr sz="1150" b="1">
                <a:solidFill>
                  <a:srgbClr val="00D2B4"/>
                </a:solidFill>
                <a:latin typeface="Calibri"/>
              </a:defRPr>
            </a:pPr>
            <a:r>
              <a:t>💬 Canal de Contacto y Pedidos por WhatsApp</a:t>
            </a:r>
          </a:p>
          <a:p>
            <a:pPr>
              <a:spcAft>
                <a:spcPts val="6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Enlace directo para enviar consultas y reservas al móvil del comercio.</a:t>
            </a:r>
          </a:p>
          <a:p>
            <a:pPr>
              <a:defRPr sz="1150" b="1">
                <a:solidFill>
                  <a:srgbClr val="00D2B4"/>
                </a:solidFill>
                <a:latin typeface="Calibri"/>
              </a:defRPr>
            </a:pPr>
            <a:r>
              <a:t>📱 Panel de Control Sencillo para el Dueño</a:t>
            </a:r>
          </a:p>
          <a:p>
            <a:pPr>
              <a:spcAft>
                <a:spcPts val="6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Gestión fácil de citas del día y cambios de horarios sin saber programar.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🚀 Modelo B2B Micro-SaaS • Servicio Integral de Digitalización y Acompañamiento a Comercios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2B4"/>
          </a:solidFill>
          <a:ln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2B4"/>
                </a:solidFill>
                <a:latin typeface="Calibri"/>
              </a:defRPr>
            </a:pPr>
            <a:r>
              <a:t>LeadCraft AI  •  Proyecto Intermodular 2º 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03 / 03  •  VALOR AÑADIDO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A192F"/>
                </a:solidFill>
                <a:latin typeface="Calibri"/>
              </a:defRPr>
            </a:pPr>
            <a:r>
              <a:t>3. Valor Añadido del Servicio y Mejoras Futuras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¿Por qué resulta útil vender este servicio y cuál es su proyección futura?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00D2B4"/>
                </a:solidFill>
                <a:latin typeface="Calibri"/>
              </a:defRPr>
            </a:pPr>
            <a:r>
              <a:t>🌟 VALOR DEL SERVICIO (¿POR QUÉ ES ÚTIL?)</a:t>
            </a:r>
          </a:p>
          <a:p>
            <a:pPr>
              <a:defRPr sz="1150" b="1">
                <a:solidFill>
                  <a:srgbClr val="0A192F"/>
                </a:solidFill>
                <a:latin typeface="Calibri"/>
              </a:defRPr>
            </a:pPr>
            <a:r>
              <a:t>✔ Servicio 'Llave en Mano':</a:t>
            </a:r>
          </a:p>
          <a:p>
            <a:pPr>
              <a:spcAft>
                <a:spcPts val="8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   El comerciante no compra un software suelto, sino un servicio activo que le lleva su tienda en Internet.</a:t>
            </a:r>
          </a:p>
          <a:p>
            <a:pPr>
              <a:defRPr sz="1150" b="1">
                <a:solidFill>
                  <a:srgbClr val="0A192F"/>
                </a:solidFill>
                <a:latin typeface="Calibri"/>
              </a:defRPr>
            </a:pPr>
            <a:r>
              <a:t>✔ Demostración Visual Instantánea:</a:t>
            </a:r>
          </a:p>
          <a:p>
            <a:pPr>
              <a:spcAft>
                <a:spcPts val="8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   El comercial se presenta con la tienda ya maquetada sobre datos de Google Maps, multiplicando el cierre de ventas.</a:t>
            </a:r>
          </a:p>
          <a:p>
            <a:pPr>
              <a:defRPr sz="1150" b="1">
                <a:solidFill>
                  <a:srgbClr val="0A192F"/>
                </a:solidFill>
                <a:latin typeface="Calibri"/>
              </a:defRPr>
            </a:pPr>
            <a:r>
              <a:t>✔ Cuota Asequible por Suscripción:</a:t>
            </a:r>
          </a:p>
          <a:p>
            <a:pPr>
              <a:spcAft>
                <a:spcPts val="8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   Sustituye los presupuestos desorbitados de agencias por un servicio mensual accesible y mantenido.</a:t>
            </a:r>
          </a:p>
          <a:p>
            <a:pPr>
              <a:defRPr sz="1150" b="1">
                <a:solidFill>
                  <a:srgbClr val="0A192F"/>
                </a:solidFill>
                <a:latin typeface="Calibri"/>
              </a:defRPr>
            </a:pPr>
            <a:r>
              <a:t>✔ Independencia para el Comerciante:</a:t>
            </a:r>
          </a:p>
          <a:p>
            <a:pPr>
              <a:spcAft>
                <a:spcPts val="8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   Panel intuitivo para consultar reservas sin depender de soporte técnico externo.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0D6EFD"/>
                </a:solidFill>
                <a:latin typeface="Calibri"/>
              </a:defRPr>
            </a:pPr>
            <a:r>
              <a:t>🚀 MEJORAS FUTURAS PREVISTAS</a:t>
            </a:r>
          </a:p>
          <a:p>
            <a:pPr>
              <a:defRPr sz="1150" b="1">
                <a:solidFill>
                  <a:srgbClr val="0A192F"/>
                </a:solidFill>
                <a:latin typeface="Calibri"/>
              </a:defRPr>
            </a:pPr>
            <a:r>
              <a:t>✦ Bot de WhatsApp con IA 24/7:</a:t>
            </a:r>
          </a:p>
          <a:p>
            <a:pPr>
              <a:spcAft>
                <a:spcPts val="8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   Atención automatizada para dudas frecuentes, confirmación de citas y recordatorios por chat.</a:t>
            </a:r>
          </a:p>
          <a:p>
            <a:pPr>
              <a:defRPr sz="1150" b="1">
                <a:solidFill>
                  <a:srgbClr val="0A192F"/>
                </a:solidFill>
                <a:latin typeface="Calibri"/>
              </a:defRPr>
            </a:pPr>
            <a:r>
              <a:t>✦ Pagos Integrados con Stripe:</a:t>
            </a:r>
          </a:p>
          <a:p>
            <a:pPr>
              <a:spcAft>
                <a:spcPts val="8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   Cobro de señales o venta directa de productos y servicios desde la propia web.</a:t>
            </a:r>
          </a:p>
          <a:p>
            <a:pPr>
              <a:defRPr sz="1150" b="1">
                <a:solidFill>
                  <a:srgbClr val="0A192F"/>
                </a:solidFill>
                <a:latin typeface="Calibri"/>
              </a:defRPr>
            </a:pPr>
            <a:r>
              <a:t>✦ Sincronización con Google Calendar:</a:t>
            </a:r>
          </a:p>
          <a:p>
            <a:pPr>
              <a:spcAft>
                <a:spcPts val="800"/>
              </a:spcAft>
              <a:defRPr sz="1000">
                <a:solidFill>
                  <a:srgbClr val="232F3E"/>
                </a:solidFill>
                <a:latin typeface="Calibri"/>
              </a:defRPr>
            </a:pPr>
            <a:r>
              <a:t>   Conexión bidireccional automática con la agenda personal y de empleados del comercio.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🎯 LEADCRAFT AI  •  Proyecto Intermodular 2º DAM  •  Kevin Muñoz Córcoles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