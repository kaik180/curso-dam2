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5C39F24-DD2F-ACAC-DE90-2C3B1E5E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196080E7-DC8F-6611-429C-B34117F5F0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201EF4C5-1F2C-8BDC-B267-6EC215D21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2575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A7916F3-E2A8-BA85-F15B-1547E2F8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E89DDF1F-3BA9-D62E-B7E4-A0FADAC215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9C0AB5A4-3A24-90BE-441D-2F8E41C66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377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63123DD-1B3C-DABD-E929-2698BD54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CBD8C71D-8CFC-0FF5-0A66-A075754CE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5BB47D9D-CAA6-33BF-30D4-7DE25869D7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9467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9CC145C-E950-E805-8ED9-EDEBC1FF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3CA87EA7-0E37-24E4-79AD-84442F468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C490290D-6BAC-F6D7-D179-9CB7505A9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192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E7B80DA-A4BE-B48F-E896-7D330D40A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A2C65272-F1F5-8269-BA1A-8DCE77ED7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AF985FD7-583F-7069-4E9F-4A58B1A47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395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60CCF41-6C97-9E8B-8293-8DB69A881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9A99D5EE-9732-6AE1-33D0-9E3E6D8A04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FBC6FD36-9D7C-025A-5210-1107D6A0C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6404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CE1B4E4-C29E-16E6-F077-430862D06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246720c540_0_29:notes">
            <a:extLst>
              <a:ext uri="{FF2B5EF4-FFF2-40B4-BE49-F238E27FC236}">
                <a16:creationId xmlns:a16="http://schemas.microsoft.com/office/drawing/2014/main" id="{969ED650-0EAF-0B92-4EF2-242C5A01A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246720c540_0_29:notes">
            <a:extLst>
              <a:ext uri="{FF2B5EF4-FFF2-40B4-BE49-F238E27FC236}">
                <a16:creationId xmlns:a16="http://schemas.microsoft.com/office/drawing/2014/main" id="{C2ADB937-8584-A80E-CB05-A8D5F88E6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1467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Century Gothic" panose="020B0502020202020204" pitchFamily="34" charset="0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473700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1539950"/>
            <a:ext cx="9144000" cy="1161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0" y="905150"/>
            <a:ext cx="9144000" cy="179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700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Presentación módulo</a:t>
            </a:r>
            <a:endParaRPr sz="470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207825" y="427850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533300" y="473700"/>
            <a:ext cx="6108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1190171" y="2910126"/>
            <a:ext cx="6284685" cy="7788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dirty="0"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</p:txBody>
      </p:sp>
      <p:cxnSp>
        <p:nvCxnSpPr>
          <p:cNvPr id="63" name="Google Shape;63;p13"/>
          <p:cNvCxnSpPr/>
          <p:nvPr/>
        </p:nvCxnSpPr>
        <p:spPr>
          <a:xfrm>
            <a:off x="2991900" y="4388025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61;p13">
            <a:extLst>
              <a:ext uri="{FF2B5EF4-FFF2-40B4-BE49-F238E27FC236}">
                <a16:creationId xmlns:a16="http://schemas.microsoft.com/office/drawing/2014/main" id="{61E052CA-78C2-B614-0F1F-E5F421C39B7C}"/>
              </a:ext>
            </a:extLst>
          </p:cNvPr>
          <p:cNvSpPr txBox="1">
            <a:spLocks/>
          </p:cNvSpPr>
          <p:nvPr/>
        </p:nvSpPr>
        <p:spPr>
          <a:xfrm>
            <a:off x="1190171" y="3508106"/>
            <a:ext cx="6284685" cy="77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s" dirty="0">
                <a:latin typeface="Century Gothic"/>
                <a:ea typeface="Century Gothic"/>
                <a:cs typeface="Century Gothic"/>
                <a:sym typeface="Century Gothic"/>
              </a:rPr>
              <a:t>2º DAM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8A2E38E-4FA7-83BA-7966-478E9C0E7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819" y="289314"/>
            <a:ext cx="1012761" cy="6897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/>
        </p:nvSpPr>
        <p:spPr>
          <a:xfrm>
            <a:off x="0" y="230661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39650" y="152511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062686" y="230661"/>
            <a:ext cx="1081314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1"/>
          </p:nvPr>
        </p:nvSpPr>
        <p:spPr>
          <a:xfrm>
            <a:off x="1923250" y="62470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Información general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335556" y="1228953"/>
            <a:ext cx="8452844" cy="3289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Nombre: 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 de interfaces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Código: 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0488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Horas: 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166h</a:t>
            </a:r>
            <a:endParaRPr lang="es-ES" sz="2000" b="1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Horario: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5 horas semanales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Email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j.sanzmoya@edu.gva.es</a:t>
            </a:r>
            <a:endParaRPr lang="es-ES" sz="2000" b="1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000" b="1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/>
          <p:cNvCxnSpPr/>
          <p:nvPr/>
        </p:nvCxnSpPr>
        <p:spPr>
          <a:xfrm>
            <a:off x="2961300" y="4627510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/>
          <p:cNvCxnSpPr/>
          <p:nvPr/>
        </p:nvCxnSpPr>
        <p:spPr>
          <a:xfrm>
            <a:off x="1651800" y="1136012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061FE0E5-F446-00C2-A29A-A37F9DC8B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44" y="26719"/>
            <a:ext cx="1012761" cy="6897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974A30D-FB44-F23D-E188-145B6DF8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2E1E9EC6-4362-3811-9486-ADC329D04DA2}"/>
              </a:ext>
            </a:extLst>
          </p:cNvPr>
          <p:cNvSpPr txBox="1"/>
          <p:nvPr/>
        </p:nvSpPr>
        <p:spPr>
          <a:xfrm>
            <a:off x="0" y="230661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164930B8-9EBF-2FC8-AADF-3D23DD82376D}"/>
              </a:ext>
            </a:extLst>
          </p:cNvPr>
          <p:cNvSpPr txBox="1"/>
          <p:nvPr/>
        </p:nvSpPr>
        <p:spPr>
          <a:xfrm>
            <a:off x="139650" y="152511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477001A8-D11C-5151-22E2-11C88D0D77C5}"/>
              </a:ext>
            </a:extLst>
          </p:cNvPr>
          <p:cNvSpPr txBox="1"/>
          <p:nvPr/>
        </p:nvSpPr>
        <p:spPr>
          <a:xfrm>
            <a:off x="8062686" y="230661"/>
            <a:ext cx="1081314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2A426E07-9B02-20EA-DADA-78F5423643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3250" y="62470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Resultados de aprendizaje/contenidos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02097F0A-8EED-4334-956E-F3F9CA5A20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5578" y="1172838"/>
            <a:ext cx="8452844" cy="3289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Genera interfaces gráficos de usuario mediante editores visuales utilizando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 funcionalidades del editor y adaptando el código generado. 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Genera interfaces naturales de usuario utilizando herramientas visuales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Crea componentes visuales valorando y empleando herramientas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específicas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Diseña interfaces gráficas identificando y aplicando criterios de usabilidad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accesibilidad</a:t>
            </a:r>
          </a:p>
        </p:txBody>
      </p:sp>
      <p:cxnSp>
        <p:nvCxnSpPr>
          <p:cNvPr id="74" name="Google Shape;74;p14">
            <a:extLst>
              <a:ext uri="{FF2B5EF4-FFF2-40B4-BE49-F238E27FC236}">
                <a16:creationId xmlns:a16="http://schemas.microsoft.com/office/drawing/2014/main" id="{7C699352-2BD2-9A75-2D04-176147C508A6}"/>
              </a:ext>
            </a:extLst>
          </p:cNvPr>
          <p:cNvCxnSpPr/>
          <p:nvPr/>
        </p:nvCxnSpPr>
        <p:spPr>
          <a:xfrm>
            <a:off x="2961300" y="4627510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252B3739-C1D9-AD11-AEA0-97A3243F5ECD}"/>
              </a:ext>
            </a:extLst>
          </p:cNvPr>
          <p:cNvCxnSpPr/>
          <p:nvPr/>
        </p:nvCxnSpPr>
        <p:spPr>
          <a:xfrm>
            <a:off x="1651800" y="1136012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36EA505-897A-FCE9-80CE-7A43C66B4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44" y="26719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2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1C89CCC-1552-4552-375A-058DEC350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45C79D1E-44E4-B8D8-F5A8-FA839C7AD1DD}"/>
              </a:ext>
            </a:extLst>
          </p:cNvPr>
          <p:cNvSpPr txBox="1"/>
          <p:nvPr/>
        </p:nvSpPr>
        <p:spPr>
          <a:xfrm>
            <a:off x="0" y="230661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1CEE04BD-4EE5-9C4B-2248-73E746C5CE98}"/>
              </a:ext>
            </a:extLst>
          </p:cNvPr>
          <p:cNvSpPr txBox="1"/>
          <p:nvPr/>
        </p:nvSpPr>
        <p:spPr>
          <a:xfrm>
            <a:off x="139650" y="152511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F0B51D15-6E71-D536-493B-D042EB77A1CB}"/>
              </a:ext>
            </a:extLst>
          </p:cNvPr>
          <p:cNvSpPr txBox="1"/>
          <p:nvPr/>
        </p:nvSpPr>
        <p:spPr>
          <a:xfrm>
            <a:off x="8062686" y="230661"/>
            <a:ext cx="1081314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5E386D03-EF44-2371-E1F2-1AC74ED5550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3250" y="62470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Resultados de aprendizaje/contenidos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B973E195-D23A-CC97-AF77-CB0A60DAE6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5578" y="1172838"/>
            <a:ext cx="8452844" cy="3289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 Crea informes evaluando y utilizando herramientas gráficas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 Documenta aplicaciones seleccionando y utilizando herramientas específicas.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7. Prepara aplicaciones para su distribución evaluando y utilizando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herramientas específicas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8. Evalúa el funcionamiento de aplicaciones diseñando y ejecutando</a:t>
            </a:r>
          </a:p>
          <a:p>
            <a:pPr marL="0" lvl="0" indent="0" algn="l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pruebas</a:t>
            </a:r>
          </a:p>
          <a:p>
            <a:pPr marL="342900" lvl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b="1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>
            <a:extLst>
              <a:ext uri="{FF2B5EF4-FFF2-40B4-BE49-F238E27FC236}">
                <a16:creationId xmlns:a16="http://schemas.microsoft.com/office/drawing/2014/main" id="{AF2FEBAA-D7C8-E670-5E73-C5BF78EE1379}"/>
              </a:ext>
            </a:extLst>
          </p:cNvPr>
          <p:cNvCxnSpPr/>
          <p:nvPr/>
        </p:nvCxnSpPr>
        <p:spPr>
          <a:xfrm>
            <a:off x="2961300" y="4627510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6F391A4D-9024-1CA9-F5DB-4AC3EF534CBC}"/>
              </a:ext>
            </a:extLst>
          </p:cNvPr>
          <p:cNvCxnSpPr/>
          <p:nvPr/>
        </p:nvCxnSpPr>
        <p:spPr>
          <a:xfrm>
            <a:off x="1651800" y="1136012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B2D473ED-2799-F690-C7FD-2C4FC05A9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44" y="26719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0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55CBB25-19CA-004A-DFB2-95386369F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6B0C6369-FC03-3AD6-16C0-74D370FD4ED5}"/>
              </a:ext>
            </a:extLst>
          </p:cNvPr>
          <p:cNvSpPr txBox="1"/>
          <p:nvPr/>
        </p:nvSpPr>
        <p:spPr>
          <a:xfrm>
            <a:off x="0" y="230661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46361B2B-9A17-04A1-9DC6-D7982D799F6C}"/>
              </a:ext>
            </a:extLst>
          </p:cNvPr>
          <p:cNvSpPr txBox="1"/>
          <p:nvPr/>
        </p:nvSpPr>
        <p:spPr>
          <a:xfrm>
            <a:off x="139650" y="152511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CAD84FCE-E10E-64D8-2892-BCE449EFD7FB}"/>
              </a:ext>
            </a:extLst>
          </p:cNvPr>
          <p:cNvSpPr txBox="1"/>
          <p:nvPr/>
        </p:nvSpPr>
        <p:spPr>
          <a:xfrm>
            <a:off x="8062686" y="230661"/>
            <a:ext cx="1081314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BB97294D-21C6-0BC0-D16B-E4D0D783692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3250" y="62470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Resultados de aprendizaje/contenidos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B61A8021-AC4A-FC77-F49B-B9814F3ED62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12274" y="1699991"/>
            <a:ext cx="8319451" cy="20711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Diseño (RA4)</a:t>
            </a:r>
          </a:p>
          <a:p>
            <a:pPr marL="0" lvl="0" indent="0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Desarrollo (RA1,RA2,RA3,RA5)</a:t>
            </a:r>
          </a:p>
          <a:p>
            <a:pPr marL="0" lvl="0" indent="0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Documentación (RA6)</a:t>
            </a:r>
          </a:p>
          <a:p>
            <a:pPr marL="0" lvl="0" indent="0">
              <a:lnSpc>
                <a:spcPct val="150000"/>
              </a:lnSpc>
            </a:pPr>
            <a:r>
              <a:rPr lang="es-ES" b="1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Testing</a:t>
            </a: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(RA8)</a:t>
            </a:r>
          </a:p>
          <a:p>
            <a:pPr marL="0" lvl="0" indent="0">
              <a:lnSpc>
                <a:spcPct val="150000"/>
              </a:lnSpc>
            </a:pPr>
            <a:r>
              <a:rPr lang="es-ES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Distribución (RA7)</a:t>
            </a:r>
          </a:p>
          <a:p>
            <a:pPr marL="0" lvl="0" indent="0">
              <a:lnSpc>
                <a:spcPct val="150000"/>
              </a:lnSpc>
            </a:pPr>
            <a:endParaRPr lang="es-ES" b="1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>
              <a:lnSpc>
                <a:spcPct val="150000"/>
              </a:lnSpc>
            </a:pPr>
            <a:endParaRPr lang="es-ES" b="1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>
            <a:extLst>
              <a:ext uri="{FF2B5EF4-FFF2-40B4-BE49-F238E27FC236}">
                <a16:creationId xmlns:a16="http://schemas.microsoft.com/office/drawing/2014/main" id="{B282CB5D-856D-4AAE-06FC-80C056568059}"/>
              </a:ext>
            </a:extLst>
          </p:cNvPr>
          <p:cNvCxnSpPr/>
          <p:nvPr/>
        </p:nvCxnSpPr>
        <p:spPr>
          <a:xfrm>
            <a:off x="2961300" y="4627510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A1A67F39-74FE-2A8C-9D06-1CBB9C52D1E8}"/>
              </a:ext>
            </a:extLst>
          </p:cNvPr>
          <p:cNvCxnSpPr/>
          <p:nvPr/>
        </p:nvCxnSpPr>
        <p:spPr>
          <a:xfrm>
            <a:off x="1651800" y="1136012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57FC00BE-F08D-1ED3-4014-D11E86C3B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44" y="26719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24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74532A4-A6F5-2615-4301-E252C790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2C57E48A-B744-B2D2-9838-D227DCD30300}"/>
              </a:ext>
            </a:extLst>
          </p:cNvPr>
          <p:cNvSpPr txBox="1"/>
          <p:nvPr/>
        </p:nvSpPr>
        <p:spPr>
          <a:xfrm>
            <a:off x="0" y="230661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11CB62B3-529F-E5D1-82FB-129E87544460}"/>
              </a:ext>
            </a:extLst>
          </p:cNvPr>
          <p:cNvSpPr txBox="1"/>
          <p:nvPr/>
        </p:nvSpPr>
        <p:spPr>
          <a:xfrm>
            <a:off x="139650" y="152511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63FB681C-A172-3AE4-93FE-109F3E810ABC}"/>
              </a:ext>
            </a:extLst>
          </p:cNvPr>
          <p:cNvSpPr txBox="1"/>
          <p:nvPr/>
        </p:nvSpPr>
        <p:spPr>
          <a:xfrm>
            <a:off x="8062686" y="230661"/>
            <a:ext cx="1081314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3E2E0231-94B4-E8F3-807B-95076FBD17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3250" y="62470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Resultados de aprendizaje/contenidos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5DAF3FFD-DA15-A998-17DB-4AA1625CF9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5578" y="1172838"/>
            <a:ext cx="8452844" cy="3289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Cada RA tiene una ponderación distinta dependiendo de su valor.</a:t>
            </a:r>
          </a:p>
        </p:txBody>
      </p:sp>
      <p:cxnSp>
        <p:nvCxnSpPr>
          <p:cNvPr id="74" name="Google Shape;74;p14">
            <a:extLst>
              <a:ext uri="{FF2B5EF4-FFF2-40B4-BE49-F238E27FC236}">
                <a16:creationId xmlns:a16="http://schemas.microsoft.com/office/drawing/2014/main" id="{688AF1B7-F687-127F-2E2D-4800AC196B5D}"/>
              </a:ext>
            </a:extLst>
          </p:cNvPr>
          <p:cNvCxnSpPr/>
          <p:nvPr/>
        </p:nvCxnSpPr>
        <p:spPr>
          <a:xfrm>
            <a:off x="2961300" y="4627510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FA965EA0-505D-BFC1-86FC-28C097CE7DC9}"/>
              </a:ext>
            </a:extLst>
          </p:cNvPr>
          <p:cNvCxnSpPr/>
          <p:nvPr/>
        </p:nvCxnSpPr>
        <p:spPr>
          <a:xfrm>
            <a:off x="1651800" y="1136012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8C45F16-3F5A-81D7-F7F8-12A201A85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44" y="26719"/>
            <a:ext cx="1012761" cy="689772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C1A2DC46-176B-FC3C-B533-E3CAD4837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924230"/>
              </p:ext>
            </p:extLst>
          </p:nvPr>
        </p:nvGraphicFramePr>
        <p:xfrm>
          <a:off x="1186857" y="2177143"/>
          <a:ext cx="6945086" cy="2133603"/>
        </p:xfrm>
        <a:graphic>
          <a:graphicData uri="http://schemas.openxmlformats.org/drawingml/2006/table">
            <a:tbl>
              <a:tblPr/>
              <a:tblGrid>
                <a:gridCol w="2494561">
                  <a:extLst>
                    <a:ext uri="{9D8B030D-6E8A-4147-A177-3AD203B41FA5}">
                      <a16:colId xmlns:a16="http://schemas.microsoft.com/office/drawing/2014/main" val="3903832199"/>
                    </a:ext>
                  </a:extLst>
                </a:gridCol>
                <a:gridCol w="1885095">
                  <a:extLst>
                    <a:ext uri="{9D8B030D-6E8A-4147-A177-3AD203B41FA5}">
                      <a16:colId xmlns:a16="http://schemas.microsoft.com/office/drawing/2014/main" val="1011446264"/>
                    </a:ext>
                  </a:extLst>
                </a:gridCol>
                <a:gridCol w="1431538">
                  <a:extLst>
                    <a:ext uri="{9D8B030D-6E8A-4147-A177-3AD203B41FA5}">
                      <a16:colId xmlns:a16="http://schemas.microsoft.com/office/drawing/2014/main" val="3599131753"/>
                    </a:ext>
                  </a:extLst>
                </a:gridCol>
                <a:gridCol w="1133892">
                  <a:extLst>
                    <a:ext uri="{9D8B030D-6E8A-4147-A177-3AD203B41FA5}">
                      <a16:colId xmlns:a16="http://schemas.microsoft.com/office/drawing/2014/main" val="2387672308"/>
                    </a:ext>
                  </a:extLst>
                </a:gridCol>
              </a:tblGrid>
              <a:tr h="5709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Unidad de trabajo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Resultado de aprendizaje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Ponderación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Semanas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962170"/>
                  </a:ext>
                </a:extLst>
              </a:tr>
              <a:tr h="260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UT01. Diseño en Figma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454311"/>
                  </a:ext>
                </a:extLst>
              </a:tr>
              <a:tr h="260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UT02. Desarrollo en </a:t>
                      </a:r>
                      <a:r>
                        <a:rPr lang="es-E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FlutterFlow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094117"/>
                  </a:ext>
                </a:extLst>
              </a:tr>
              <a:tr h="260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UT03. Desarrollo en </a:t>
                      </a:r>
                      <a:r>
                        <a:rPr lang="es-E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FlutterFlow</a:t>
                      </a: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II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RA2,RA3,RA5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334952"/>
                  </a:ext>
                </a:extLst>
              </a:tr>
              <a:tr h="260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UT04. Documentación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991375"/>
                  </a:ext>
                </a:extLst>
              </a:tr>
              <a:tr h="260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UT05. Testing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11496"/>
                  </a:ext>
                </a:extLst>
              </a:tr>
              <a:tr h="260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UT06. Distribución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57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785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9AD509A-8640-C9E5-6A35-33D98CC9E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49D472F8-10C9-A8F4-CE33-36B6BA070ED0}"/>
              </a:ext>
            </a:extLst>
          </p:cNvPr>
          <p:cNvSpPr txBox="1"/>
          <p:nvPr/>
        </p:nvSpPr>
        <p:spPr>
          <a:xfrm>
            <a:off x="0" y="230661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5F99A694-115D-8745-C1E5-3CD8DFD2DD94}"/>
              </a:ext>
            </a:extLst>
          </p:cNvPr>
          <p:cNvSpPr txBox="1"/>
          <p:nvPr/>
        </p:nvSpPr>
        <p:spPr>
          <a:xfrm>
            <a:off x="139650" y="152511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853A2E60-C8FC-2AD7-185E-B4EAA0ED9DDD}"/>
              </a:ext>
            </a:extLst>
          </p:cNvPr>
          <p:cNvSpPr txBox="1"/>
          <p:nvPr/>
        </p:nvSpPr>
        <p:spPr>
          <a:xfrm>
            <a:off x="8062686" y="230661"/>
            <a:ext cx="1081314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EF13EBA8-303F-D14E-1959-3CAE809E701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3250" y="62470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Calificación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1546E3E6-9F5F-00E6-4156-2641956664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5578" y="1096366"/>
            <a:ext cx="8452844" cy="3422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Cada unidad se calificará de la siguiente manera.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Cada una de las partes con nota &gt;= 5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Examen = 4,9	Prácticas = 7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Final = 4,9*0,7 + 7*0,3 = </a:t>
            </a:r>
            <a:r>
              <a:rPr lang="es-ES" sz="2000" dirty="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5,53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Wingdings" panose="05000000000000000000" pitchFamily="2" charset="2"/>
              </a:rPr>
              <a:t> </a:t>
            </a:r>
            <a:r>
              <a:rPr lang="es-ES" sz="2000" dirty="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Wingdings" panose="05000000000000000000" pitchFamily="2" charset="2"/>
              </a:rPr>
              <a:t>UNIDAD NO SUPERADA </a:t>
            </a:r>
            <a:endParaRPr lang="es-ES" sz="2000" dirty="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>
            <a:extLst>
              <a:ext uri="{FF2B5EF4-FFF2-40B4-BE49-F238E27FC236}">
                <a16:creationId xmlns:a16="http://schemas.microsoft.com/office/drawing/2014/main" id="{B1CCD693-32AA-ADC4-F780-583B7B68D9E9}"/>
              </a:ext>
            </a:extLst>
          </p:cNvPr>
          <p:cNvCxnSpPr/>
          <p:nvPr/>
        </p:nvCxnSpPr>
        <p:spPr>
          <a:xfrm>
            <a:off x="2961300" y="4627510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DB009158-1344-BE26-C6C4-FF902E750583}"/>
              </a:ext>
            </a:extLst>
          </p:cNvPr>
          <p:cNvCxnSpPr/>
          <p:nvPr/>
        </p:nvCxnSpPr>
        <p:spPr>
          <a:xfrm>
            <a:off x="1651800" y="1136012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C2A4CC15-22E9-80AE-5385-2295694D1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44" y="26719"/>
            <a:ext cx="1012761" cy="689772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C688C85-4FBB-4F47-67FD-39D788318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986836"/>
              </p:ext>
            </p:extLst>
          </p:nvPr>
        </p:nvGraphicFramePr>
        <p:xfrm>
          <a:off x="2365829" y="1699991"/>
          <a:ext cx="4717141" cy="871758"/>
        </p:xfrm>
        <a:graphic>
          <a:graphicData uri="http://schemas.openxmlformats.org/drawingml/2006/table">
            <a:tbl>
              <a:tblPr/>
              <a:tblGrid>
                <a:gridCol w="2044631">
                  <a:extLst>
                    <a:ext uri="{9D8B030D-6E8A-4147-A177-3AD203B41FA5}">
                      <a16:colId xmlns:a16="http://schemas.microsoft.com/office/drawing/2014/main" val="484795669"/>
                    </a:ext>
                  </a:extLst>
                </a:gridCol>
                <a:gridCol w="2672510">
                  <a:extLst>
                    <a:ext uri="{9D8B030D-6E8A-4147-A177-3AD203B41FA5}">
                      <a16:colId xmlns:a16="http://schemas.microsoft.com/office/drawing/2014/main" val="248779624"/>
                    </a:ext>
                  </a:extLst>
                </a:gridCol>
              </a:tblGrid>
              <a:tr h="4358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Pruebas teórico prácticas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Actividades y prácticas propuestas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992627"/>
                  </a:ext>
                </a:extLst>
              </a:tr>
              <a:tr h="4358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30%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E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101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11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F9E2F99-DE14-F793-18C0-FEAFDDAE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940E159D-51FF-CFA0-9C2D-96A05596D763}"/>
              </a:ext>
            </a:extLst>
          </p:cNvPr>
          <p:cNvSpPr txBox="1"/>
          <p:nvPr/>
        </p:nvSpPr>
        <p:spPr>
          <a:xfrm>
            <a:off x="0" y="230661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D71DA2D6-BA36-A277-822E-F305E891FFA7}"/>
              </a:ext>
            </a:extLst>
          </p:cNvPr>
          <p:cNvSpPr txBox="1"/>
          <p:nvPr/>
        </p:nvSpPr>
        <p:spPr>
          <a:xfrm>
            <a:off x="139650" y="152511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6A421F45-4FCD-9864-B8B2-F0C081204666}"/>
              </a:ext>
            </a:extLst>
          </p:cNvPr>
          <p:cNvSpPr txBox="1"/>
          <p:nvPr/>
        </p:nvSpPr>
        <p:spPr>
          <a:xfrm>
            <a:off x="8062686" y="230661"/>
            <a:ext cx="1081314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EE9400A5-1760-3B0F-1C34-8E096A6594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3250" y="62470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Calificación evaluación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B89178FA-95EF-6CA4-F256-9C8E6662284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9314" y="1096366"/>
            <a:ext cx="8479108" cy="3497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 tener cada unidad un peso asignado, la nota final no es la media de todas las unidades.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Por ejemplo, si en la primera evaluación se imparten las unidades 1 (6%) y 2 (25%). Total = 31%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NOTA 1º EV = (6 / 31) * NOTA U1 + (25/31) * NOTA U3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que la nota de la evaluación sea &gt;=5, tienen que superarse todos los RA(Unidades).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cada evaluación sólo se recuperarán </a:t>
            </a:r>
            <a:r>
              <a:rPr lang="es-ES" sz="1800" dirty="0" err="1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RAs</a:t>
            </a:r>
            <a:r>
              <a:rPr lang="es-ES" sz="18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superados.</a:t>
            </a:r>
          </a:p>
        </p:txBody>
      </p:sp>
      <p:cxnSp>
        <p:nvCxnSpPr>
          <p:cNvPr id="74" name="Google Shape;74;p14">
            <a:extLst>
              <a:ext uri="{FF2B5EF4-FFF2-40B4-BE49-F238E27FC236}">
                <a16:creationId xmlns:a16="http://schemas.microsoft.com/office/drawing/2014/main" id="{BFEB5AAB-9B4E-6E9C-7D96-2FA268F5FEEF}"/>
              </a:ext>
            </a:extLst>
          </p:cNvPr>
          <p:cNvCxnSpPr/>
          <p:nvPr/>
        </p:nvCxnSpPr>
        <p:spPr>
          <a:xfrm>
            <a:off x="2961300" y="4627510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4655BCF7-7CD9-4B14-1A3F-20A6431A910C}"/>
              </a:ext>
            </a:extLst>
          </p:cNvPr>
          <p:cNvCxnSpPr/>
          <p:nvPr/>
        </p:nvCxnSpPr>
        <p:spPr>
          <a:xfrm>
            <a:off x="1651800" y="1136012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8A4A3A43-3CB6-ACEC-EE1B-C3F50394F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44" y="26719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2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DBE024E-F77E-DBCE-1CC1-867A3AC7A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E37678C5-AB3B-1439-E9D5-7416C835369E}"/>
              </a:ext>
            </a:extLst>
          </p:cNvPr>
          <p:cNvSpPr txBox="1"/>
          <p:nvPr/>
        </p:nvSpPr>
        <p:spPr>
          <a:xfrm>
            <a:off x="0" y="230661"/>
            <a:ext cx="6155100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218E95CA-1549-61F1-30EB-D1BACEE29E7C}"/>
              </a:ext>
            </a:extLst>
          </p:cNvPr>
          <p:cNvSpPr txBox="1"/>
          <p:nvPr/>
        </p:nvSpPr>
        <p:spPr>
          <a:xfrm>
            <a:off x="139650" y="152511"/>
            <a:ext cx="1696200" cy="4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 b="1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CURSO 25-26</a:t>
            </a:r>
            <a:endParaRPr sz="1500" b="1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CB730D0E-A0B6-86A9-70BE-5567D8F60641}"/>
              </a:ext>
            </a:extLst>
          </p:cNvPr>
          <p:cNvSpPr txBox="1"/>
          <p:nvPr/>
        </p:nvSpPr>
        <p:spPr>
          <a:xfrm>
            <a:off x="8062686" y="230661"/>
            <a:ext cx="1081314" cy="3210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ECA1AF7A-D096-3ED7-8FF9-A69EA900E69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23250" y="624705"/>
            <a:ext cx="5472300" cy="4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 dirty="0">
                <a:latin typeface="Century Gothic"/>
                <a:ea typeface="Century Gothic"/>
                <a:cs typeface="Century Gothic"/>
                <a:sym typeface="Century Gothic"/>
              </a:rPr>
              <a:t>Superar el módulo y asistencia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2E931AA8-8AAE-6A2C-1CB8-9A8C3C4ED4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45578" y="1096367"/>
            <a:ext cx="8452844" cy="32898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Para superar el módulo, deben superarse todos y cada uno de los RA. No superar un RA, por poco peso que tenga, supone la no superación del módulo </a:t>
            </a: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completo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asistencia es </a:t>
            </a:r>
            <a:r>
              <a:rPr lang="es-ES" sz="2000" b="1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obligatoria </a:t>
            </a:r>
            <a:r>
              <a:rPr lang="es-ES" sz="2000" dirty="0">
                <a:solidFill>
                  <a:srgbClr val="99999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en caso de superar un 15% de faltas al módulo, se perderá la evaluación continua.</a:t>
            </a:r>
            <a:endParaRPr lang="es-ES" sz="2000" b="1" dirty="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34290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99999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4" name="Google Shape;74;p14">
            <a:extLst>
              <a:ext uri="{FF2B5EF4-FFF2-40B4-BE49-F238E27FC236}">
                <a16:creationId xmlns:a16="http://schemas.microsoft.com/office/drawing/2014/main" id="{C32042DD-AD5A-DFE3-768F-470C4DF845B2}"/>
              </a:ext>
            </a:extLst>
          </p:cNvPr>
          <p:cNvCxnSpPr/>
          <p:nvPr/>
        </p:nvCxnSpPr>
        <p:spPr>
          <a:xfrm>
            <a:off x="2961300" y="4627510"/>
            <a:ext cx="61827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" name="Google Shape;75;p14">
            <a:extLst>
              <a:ext uri="{FF2B5EF4-FFF2-40B4-BE49-F238E27FC236}">
                <a16:creationId xmlns:a16="http://schemas.microsoft.com/office/drawing/2014/main" id="{AF517EBA-E55C-F0F9-2CED-440F2C86E76F}"/>
              </a:ext>
            </a:extLst>
          </p:cNvPr>
          <p:cNvCxnSpPr/>
          <p:nvPr/>
        </p:nvCxnSpPr>
        <p:spPr>
          <a:xfrm>
            <a:off x="1651800" y="1136012"/>
            <a:ext cx="5840400" cy="0"/>
          </a:xfrm>
          <a:prstGeom prst="straightConnector1">
            <a:avLst/>
          </a:prstGeom>
          <a:noFill/>
          <a:ln w="19050" cap="flat" cmpd="sng">
            <a:solidFill>
              <a:srgbClr val="B6D7A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AAF38F56-099E-4550-FAE0-26CECDF4D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44" y="26719"/>
            <a:ext cx="1012761" cy="68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7047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3823</TotalTime>
  <Words>474</Words>
  <Application>Microsoft Office PowerPoint</Application>
  <PresentationFormat>Presentación en pantalla (16:9)</PresentationFormat>
  <Paragraphs>90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Calibri</vt:lpstr>
      <vt:lpstr>Arial</vt:lpstr>
      <vt:lpstr>Century Gothic</vt:lpstr>
      <vt:lpstr>Simple Light</vt:lpstr>
      <vt:lpstr>Presentación módulo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SANZ MOYA, JUAN</cp:lastModifiedBy>
  <cp:revision>97</cp:revision>
  <dcterms:modified xsi:type="dcterms:W3CDTF">2025-09-17T07:28:51Z</dcterms:modified>
</cp:coreProperties>
</file>