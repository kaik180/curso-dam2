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9728" cy="4389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100584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DELIVERABLE 01 — MULTIPLATFORM MOBILE DEVELOPMENT</a:t>
            </a:r>
          </a:p>
          <a:p>
            <a:pPr>
              <a:spcBef>
                <a:spcPts val="1000"/>
              </a:spcBef>
              <a:defRPr sz="3200" b="1">
                <a:solidFill>
                  <a:srgbClr val="F8FAFC"/>
                </a:solidFill>
              </a:defRPr>
            </a:pPr>
            <a:r>
              <a:t>Installation &amp; Configuration of the Development Environment</a:t>
            </a:r>
          </a:p>
          <a:p>
            <a:pPr>
              <a:spcBef>
                <a:spcPts val="1200"/>
              </a:spcBef>
              <a:defRPr sz="1500">
                <a:solidFill>
                  <a:srgbClr val="94A3B8"/>
                </a:solidFill>
              </a:defRPr>
            </a:pPr>
            <a:r>
              <a:t>Comprehensive setup guide and verification: Android Studio, Android SDK CLI Tools, Flutter SDK, Visual Studio Code &amp; Virtualized Emulators (Genymotion &amp; AVD).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931920"/>
            <a:ext cx="237744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411480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ALUMNO / AUTOR</a:t>
            </a:r>
          </a:p>
          <a:p>
            <a:pPr>
              <a:spcBef>
                <a:spcPts val="600"/>
              </a:spcBef>
              <a:defRPr sz="1300" b="1">
                <a:solidFill>
                  <a:srgbClr val="F8FAFC"/>
                </a:solidFill>
              </a:defRPr>
            </a:pPr>
            <a:r>
              <a:t>Kevin (2º DAM)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3931920"/>
            <a:ext cx="237744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60" y="411480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MÓDULO TÉCNICO</a:t>
            </a:r>
          </a:p>
          <a:p>
            <a:pPr>
              <a:spcBef>
                <a:spcPts val="600"/>
              </a:spcBef>
              <a:defRPr sz="1300" b="1">
                <a:solidFill>
                  <a:srgbClr val="F8FAFC"/>
                </a:solidFill>
              </a:defRPr>
            </a:pPr>
            <a:r>
              <a:t>Programación Móvil / DI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237744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411480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PLATAFORMA BASE</a:t>
            </a:r>
          </a:p>
          <a:p>
            <a:pPr>
              <a:spcBef>
                <a:spcPts val="600"/>
              </a:spcBef>
              <a:defRPr sz="1300" b="1">
                <a:solidFill>
                  <a:srgbClr val="F8FAFC"/>
                </a:solidFill>
              </a:defRPr>
            </a:pPr>
            <a:r>
              <a:t>Windows 11 x64 / RTX 4060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39" y="3931920"/>
            <a:ext cx="237744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399" y="411480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STACK TECNOLÓGICO</a:t>
            </a:r>
          </a:p>
          <a:p>
            <a:pPr>
              <a:spcBef>
                <a:spcPts val="600"/>
              </a:spcBef>
              <a:defRPr sz="1300" b="1">
                <a:solidFill>
                  <a:srgbClr val="F8FAFC"/>
                </a:solidFill>
              </a:defRPr>
            </a:pPr>
            <a:r>
              <a:t>Flutter 3.47 / Dart 3.13 / AVD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Kevin | 2º DAM — Programación Móvil y Desarrollo de Interfaces | Entorno de Desarrollo Flutter &amp; Emuladores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94A3B8"/>
                </a:solidFill>
              </a:defRPr>
            </a:pPr>
            <a: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00 | OVERVIEW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Deliverable Structure &amp; Key Technical Milestones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27632"/>
            <a:ext cx="502920" cy="43891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572768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Android Studio &amp; SDK Tools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Installation of Android Studio, Android SDK 36/37, and critical Command-line Tools.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728655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542032"/>
            <a:ext cx="502920" cy="43891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487168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Flutter SDK &amp; Toolchain Verification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Installation of Flutter stable branch and full diagnosis via flutter doctor.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91840"/>
            <a:ext cx="10728655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456432"/>
            <a:ext cx="502920" cy="43891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401568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Code Editor Configuration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Comparative analysis between VS Code (lightweight) and Android Studio (heavyweight).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10728655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370832"/>
            <a:ext cx="502920" cy="43891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315968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First Flutter Project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Creation of mi_primer_proyecto, Material 3 customization, localized UI and Hot Reload.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20640"/>
            <a:ext cx="10728655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5285232"/>
            <a:ext cx="502920" cy="43891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5230368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Connecting Programs to Emulators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Virtualization setup with Genymotion (QEMU) and Android Studio AVD (WHPX).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Kevin | 2º DAM — Programación Móvil y Desarrollo de Interfaces | Entorno de Desarrollo Flutter &amp; Emuladores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94A3B8"/>
                </a:solidFill>
              </a:defRPr>
            </a:pPr>
            <a: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01 | ANDROID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1. Installing Android Studio and Required SDK Tools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754880" cy="4709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389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b="1" sz="1200">
                <a:solidFill>
                  <a:srgbClr val="38BDF8"/>
                </a:solidFill>
              </a:defRPr>
            </a:pPr>
            <a:r>
              <a:t>Android Studio Path: </a:t>
            </a:r>
            <a:r>
              <a:rPr b="0">
                <a:solidFill>
                  <a:srgbClr val="94A3B8"/>
                </a:solidFill>
              </a:rPr>
              <a:t>Installed in dedicated path D:\aplicaciones to optimize main system storage.</a:t>
            </a:r>
          </a:p>
          <a:p>
            <a:pPr>
              <a:spcBef>
                <a:spcPts val="1200"/>
              </a:spcBef>
              <a:defRPr b="1" sz="1200">
                <a:solidFill>
                  <a:srgbClr val="38BDF8"/>
                </a:solidFill>
              </a:defRPr>
            </a:pPr>
            <a:r>
              <a:t>Android SDK Directory: </a:t>
            </a:r>
            <a:r>
              <a:rPr b="0">
                <a:solidFill>
                  <a:srgbClr val="94A3B8"/>
                </a:solidFill>
              </a:rPr>
              <a:t>Located in C:\Users\kevin\AppData\Local\Android\Sdk.</a:t>
            </a:r>
          </a:p>
          <a:p>
            <a:pPr>
              <a:spcBef>
                <a:spcPts val="1200"/>
              </a:spcBef>
              <a:defRPr b="1" sz="1200">
                <a:solidFill>
                  <a:srgbClr val="38BDF8"/>
                </a:solidFill>
              </a:defRPr>
            </a:pPr>
            <a:r>
              <a:t>Critical Component: </a:t>
            </a:r>
            <a:r>
              <a:rPr b="0">
                <a:solidFill>
                  <a:srgbClr val="94A3B8"/>
                </a:solidFill>
              </a:rPr>
              <a:t>Android SDK Command-line Tools (latest) enabled in SDK Manager. Essential for Flutter CLI compilation.</a:t>
            </a:r>
          </a:p>
          <a:p>
            <a:pPr>
              <a:spcBef>
                <a:spcPts val="1200"/>
              </a:spcBef>
              <a:defRPr b="1" sz="1200">
                <a:solidFill>
                  <a:srgbClr val="38BDF8"/>
                </a:solidFill>
              </a:defRPr>
            </a:pPr>
            <a:r>
              <a:t>Required Platform Tools: </a:t>
            </a:r>
            <a:r>
              <a:rPr b="0">
                <a:solidFill>
                  <a:srgbClr val="94A3B8"/>
                </a:solidFill>
              </a:rPr>
              <a:t>Android SDK Build-Tools, Platform-tools (adb), and Emulator drivers installed.</a:t>
            </a:r>
          </a:p>
          <a:p>
            <a:pPr>
              <a:spcBef>
                <a:spcPts val="1200"/>
              </a:spcBef>
              <a:defRPr b="1" sz="1200">
                <a:solidFill>
                  <a:srgbClr val="38BDF8"/>
                </a:solidFill>
              </a:defRPr>
            </a:pPr>
            <a:r>
              <a:t>License Acceptance: </a:t>
            </a:r>
            <a:r>
              <a:rPr b="0">
                <a:solidFill>
                  <a:srgbClr val="94A3B8"/>
                </a:solidFill>
              </a:rPr>
              <a:t>Executed flutter doctor --android-licenses to validate all legal requirements.</a:t>
            </a:r>
          </a:p>
        </p:txBody>
      </p:sp>
      <p:pic>
        <p:nvPicPr>
          <p:cNvPr id="7" name="Picture 6" descr="page_1_1__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63040"/>
            <a:ext cx="5699455" cy="30591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Kevin | 2º DAM — Programación Móvil y Desarrollo de Interfaces | Entorno de Desarrollo Flutter &amp; Emuladores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94A3B8"/>
                </a:solidFill>
              </a:defRPr>
            </a:pPr>
            <a: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02 | FRAMEWORK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2. Installing Flutter SDK &amp; flutter doctor Diagnostics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754880" cy="4709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389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b="1" sz="1200">
                <a:solidFill>
                  <a:srgbClr val="38BDF8"/>
                </a:solidFill>
              </a:defRPr>
            </a:pPr>
            <a:r>
              <a:t>Flutter SDK Channel: </a:t>
            </a:r>
            <a:r>
              <a:rPr b="0">
                <a:solidFill>
                  <a:srgbClr val="94A3B8"/>
                </a:solidFill>
              </a:rPr>
              <a:t>Official Stable release (v3.47.5) with Dart SDK (v3.13.4).</a:t>
            </a:r>
          </a:p>
          <a:p>
            <a:pPr>
              <a:spcBef>
                <a:spcPts val="1200"/>
              </a:spcBef>
              <a:defRPr b="1" sz="1200">
                <a:solidFill>
                  <a:srgbClr val="38BDF8"/>
                </a:solidFill>
              </a:defRPr>
            </a:pPr>
            <a:r>
              <a:t>System Path Variable: </a:t>
            </a:r>
            <a:r>
              <a:rPr b="0">
                <a:solidFill>
                  <a:srgbClr val="94A3B8"/>
                </a:solidFill>
              </a:rPr>
              <a:t>D:\flutter\bin permanently added to User PATH environment variable.</a:t>
            </a:r>
          </a:p>
          <a:p>
            <a:pPr>
              <a:spcBef>
                <a:spcPts val="1200"/>
              </a:spcBef>
              <a:defRPr b="1" sz="1200">
                <a:solidFill>
                  <a:srgbClr val="38BDF8"/>
                </a:solidFill>
              </a:defRPr>
            </a:pPr>
            <a:r>
              <a:t>Comprehensive Diagnosis: </a:t>
            </a:r>
            <a:r>
              <a:rPr b="0">
                <a:solidFill>
                  <a:srgbClr val="94A3B8"/>
                </a:solidFill>
              </a:rPr>
              <a:t>flutter doctor validates toolchains, emulators, IDEs, and build platforms.</a:t>
            </a:r>
          </a:p>
          <a:p>
            <a:pPr>
              <a:spcBef>
                <a:spcPts val="1200"/>
              </a:spcBef>
              <a:defRPr b="1" sz="1200">
                <a:solidFill>
                  <a:srgbClr val="38BDF8"/>
                </a:solidFill>
              </a:defRPr>
            </a:pPr>
            <a:r>
              <a:t>Verification Status: </a:t>
            </a:r>
            <a:r>
              <a:rPr b="0">
                <a:solidFill>
                  <a:srgbClr val="94A3B8"/>
                </a:solidFill>
              </a:rPr>
              <a:t>100% operational for Android Mobile and Chrome Web deployment targets.</a:t>
            </a:r>
          </a:p>
          <a:p>
            <a:pPr>
              <a:spcBef>
                <a:spcPts val="1200"/>
              </a:spcBef>
              <a:defRPr b="1" sz="1200">
                <a:solidFill>
                  <a:srgbClr val="38BDF8"/>
                </a:solidFill>
              </a:defRPr>
            </a:pPr>
            <a:r>
              <a:t>Android Toolchain: </a:t>
            </a:r>
            <a:r>
              <a:rPr b="0">
                <a:solidFill>
                  <a:srgbClr val="94A3B8"/>
                </a:solidFill>
              </a:rPr>
              <a:t>Android SDK 36.0.0 recognized and configured with Java runtime.</a:t>
            </a:r>
          </a:p>
        </p:txBody>
      </p:sp>
      <p:pic>
        <p:nvPicPr>
          <p:cNvPr id="7" name="Picture 6" descr="page_1_2__Im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011680"/>
            <a:ext cx="5699455" cy="11973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Kevin | 2º DAM — Programación Móvil y Desarrollo de Interfaces | Entorno de Desarrollo Flutter &amp; Emuladores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94A3B8"/>
                </a:solidFill>
              </a:defRPr>
            </a:pPr>
            <a: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03 | IDE &amp; TOOLING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3. Configuring the Code Editor: VS Code vs. Android Studio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754880" cy="4709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389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b="1" sz="1200">
                <a:solidFill>
                  <a:srgbClr val="38BDF8"/>
                </a:solidFill>
              </a:defRPr>
            </a:pPr>
            <a:r>
              <a:t>Visual Studio Code (Light): </a:t>
            </a:r>
            <a:r>
              <a:rPr b="0">
                <a:solidFill>
                  <a:srgbClr val="94A3B8"/>
                </a:solidFill>
              </a:rPr>
              <a:t>Consumes ~250-450 MB RAM with instant startup. Ideal for agile coding and Hot Reload.</a:t>
            </a:r>
          </a:p>
          <a:p>
            <a:pPr>
              <a:spcBef>
                <a:spcPts val="1200"/>
              </a:spcBef>
              <a:defRPr b="1" sz="1200">
                <a:solidFill>
                  <a:srgbClr val="38BDF8"/>
                </a:solidFill>
              </a:defRPr>
            </a:pPr>
            <a:r>
              <a:t>Android Studio (Heavy): </a:t>
            </a:r>
            <a:r>
              <a:rPr b="0">
                <a:solidFill>
                  <a:srgbClr val="94A3B8"/>
                </a:solidFill>
              </a:rPr>
              <a:t>Consumes ~2.5-4.0 GB RAM. Best suited for deep native Kotlin/Java Gradle refactoring.</a:t>
            </a:r>
          </a:p>
          <a:p>
            <a:pPr>
              <a:spcBef>
                <a:spcPts val="1200"/>
              </a:spcBef>
              <a:defRPr b="1" sz="1200">
                <a:solidFill>
                  <a:srgbClr val="38BDF8"/>
                </a:solidFill>
              </a:defRPr>
            </a:pPr>
            <a:r>
              <a:t>Essential Extensions: </a:t>
            </a:r>
            <a:r>
              <a:rPr b="0">
                <a:solidFill>
                  <a:srgbClr val="94A3B8"/>
                </a:solidFill>
              </a:rPr>
              <a:t>Installed Dart Code (v3.142.0), Flutter, and Awesome Flutter Snippets.</a:t>
            </a:r>
          </a:p>
          <a:p>
            <a:pPr>
              <a:spcBef>
                <a:spcPts val="1200"/>
              </a:spcBef>
              <a:defRPr b="1" sz="1200">
                <a:solidFill>
                  <a:srgbClr val="38BDF8"/>
                </a:solidFill>
              </a:defRPr>
            </a:pPr>
            <a:r>
              <a:t>Integrated Features: </a:t>
            </a:r>
            <a:r>
              <a:rPr b="0">
                <a:solidFill>
                  <a:srgbClr val="94A3B8"/>
                </a:solidFill>
              </a:rPr>
              <a:t>Rich syntax highlighting, widget inspection, DevTools integration, and emulator shortcuts.</a:t>
            </a:r>
          </a:p>
          <a:p>
            <a:pPr>
              <a:spcBef>
                <a:spcPts val="1200"/>
              </a:spcBef>
              <a:defRPr b="1" sz="1200">
                <a:solidFill>
                  <a:srgbClr val="38BDF8"/>
                </a:solidFill>
              </a:defRPr>
            </a:pPr>
            <a:r>
              <a:t>Decision Rationale: </a:t>
            </a:r>
            <a:r>
              <a:rPr b="0">
                <a:solidFill>
                  <a:srgbClr val="94A3B8"/>
                </a:solidFill>
              </a:rPr>
              <a:t>VS Code selected as primary editor for rapid iteration and resource efficiency in DAM2.</a:t>
            </a:r>
          </a:p>
        </p:txBody>
      </p:sp>
      <p:pic>
        <p:nvPicPr>
          <p:cNvPr id="7" name="Picture 6" descr="page_2_3__Imag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63040"/>
            <a:ext cx="5699455" cy="39002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Kevin | 2º DAM — Programación Móvil y Desarrollo de Interfaces | Entorno de Desarrollo Flutter &amp; Emuladores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94A3B8"/>
                </a:solidFill>
              </a:defRPr>
            </a:pPr>
            <a: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04 | APPLICATION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4. Creating &amp; Customizing the First Project (mi_primer_proyecto)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754880" cy="4709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389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b="1" sz="1200">
                <a:solidFill>
                  <a:srgbClr val="38BDF8"/>
                </a:solidFill>
              </a:defRPr>
            </a:pPr>
            <a:r>
              <a:t>Project Scaffold: </a:t>
            </a:r>
            <a:r>
              <a:rPr b="0">
                <a:solidFill>
                  <a:srgbClr val="94A3B8"/>
                </a:solidFill>
              </a:rPr>
              <a:t>Generated using flutter create --org com.ies.dam mi_primer_proyecto.</a:t>
            </a:r>
          </a:p>
          <a:p>
            <a:pPr>
              <a:spcBef>
                <a:spcPts val="1200"/>
              </a:spcBef>
              <a:defRPr b="1" sz="1200">
                <a:solidFill>
                  <a:srgbClr val="38BDF8"/>
                </a:solidFill>
              </a:defRPr>
            </a:pPr>
            <a:r>
              <a:t>Material 3 Theme: </a:t>
            </a:r>
            <a:r>
              <a:rPr b="0">
                <a:solidFill>
                  <a:srgbClr val="94A3B8"/>
                </a:solidFill>
              </a:rPr>
              <a:t>Custom seed palette applied: colorScheme: ColorScheme.fromSeed(seedColor: Colors.amberAccent).</a:t>
            </a:r>
          </a:p>
          <a:p>
            <a:pPr>
              <a:spcBef>
                <a:spcPts val="1200"/>
              </a:spcBef>
              <a:defRPr b="1" sz="1200">
                <a:solidFill>
                  <a:srgbClr val="38BDF8"/>
                </a:solidFill>
              </a:defRPr>
            </a:pPr>
            <a:r>
              <a:t>Localized UI: </a:t>
            </a:r>
            <a:r>
              <a:rPr b="0">
                <a:solidFill>
                  <a:srgbClr val="94A3B8"/>
                </a:solidFill>
              </a:rPr>
              <a:t>Title: 'Exemple d\'aplicació amb Flutter' and descriptive Catalan prompt for tap count.</a:t>
            </a:r>
          </a:p>
          <a:p>
            <a:pPr>
              <a:spcBef>
                <a:spcPts val="1200"/>
              </a:spcBef>
              <a:defRPr b="1" sz="1200">
                <a:solidFill>
                  <a:srgbClr val="38BDF8"/>
                </a:solidFill>
              </a:defRPr>
            </a:pPr>
            <a:r>
              <a:t>State Management: </a:t>
            </a:r>
            <a:r>
              <a:rPr b="0">
                <a:solidFill>
                  <a:srgbClr val="94A3B8"/>
                </a:solidFill>
              </a:rPr>
              <a:t>StatefulWidget with _counter and setState() triggering targeted widget re-renders.</a:t>
            </a:r>
          </a:p>
          <a:p>
            <a:pPr>
              <a:spcBef>
                <a:spcPts val="1200"/>
              </a:spcBef>
              <a:defRPr b="1" sz="1200">
                <a:solidFill>
                  <a:srgbClr val="38BDF8"/>
                </a:solidFill>
              </a:defRPr>
            </a:pPr>
            <a:r>
              <a:t>Hot Reload Verified: </a:t>
            </a:r>
            <a:r>
              <a:rPr b="0">
                <a:solidFill>
                  <a:srgbClr val="94A3B8"/>
                </a:solidFill>
              </a:rPr>
              <a:t>Pressing 'r' preserves integer state in memory while updating visual styles instantly.</a:t>
            </a:r>
          </a:p>
        </p:txBody>
      </p:sp>
      <p:pic>
        <p:nvPicPr>
          <p:cNvPr id="7" name="Picture 6" descr="page_3_4__Image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63040"/>
            <a:ext cx="5699455" cy="39260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Kevin | 2º DAM — Programación Móvil y Desarrollo de Interfaces | Entorno de Desarrollo Flutter &amp; Emuladores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94A3B8"/>
                </a:solidFill>
              </a:defRPr>
            </a:pPr>
            <a: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04.1 | DEVELOPMENT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Integrated Coding, Analysis &amp; Testing in Visual Studio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754880" cy="4709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389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b="1" sz="1200">
                <a:solidFill>
                  <a:srgbClr val="38BDF8"/>
                </a:solidFill>
              </a:defRPr>
            </a:pPr>
            <a:r>
              <a:t>Workspace Structure: </a:t>
            </a:r>
            <a:r>
              <a:rPr b="0">
                <a:solidFill>
                  <a:srgbClr val="94A3B8"/>
                </a:solidFill>
              </a:rPr>
              <a:t>Clean organization with lib/, android/, web/, and pubspec.yaml manifests.</a:t>
            </a:r>
          </a:p>
          <a:p>
            <a:pPr>
              <a:spcBef>
                <a:spcPts val="1200"/>
              </a:spcBef>
              <a:defRPr b="1" sz="1200">
                <a:solidFill>
                  <a:srgbClr val="38BDF8"/>
                </a:solidFill>
              </a:defRPr>
            </a:pPr>
            <a:r>
              <a:t>Static Analysis: </a:t>
            </a:r>
            <a:r>
              <a:rPr b="0">
                <a:solidFill>
                  <a:srgbClr val="94A3B8"/>
                </a:solidFill>
              </a:rPr>
              <a:t>flutter analyze completed with 0 errors and 0 warnings (100% compliant).</a:t>
            </a:r>
          </a:p>
          <a:p>
            <a:pPr>
              <a:spcBef>
                <a:spcPts val="1200"/>
              </a:spcBef>
              <a:defRPr b="1" sz="1200">
                <a:solidFill>
                  <a:srgbClr val="38BDF8"/>
                </a:solidFill>
              </a:defRPr>
            </a:pPr>
            <a:r>
              <a:t>Automated Testing: </a:t>
            </a:r>
            <a:r>
              <a:rPr b="0">
                <a:solidFill>
                  <a:srgbClr val="94A3B8"/>
                </a:solidFill>
              </a:rPr>
              <a:t>flutter test passed: Counter increments smoke test verified successfully.</a:t>
            </a:r>
          </a:p>
          <a:p>
            <a:pPr>
              <a:spcBef>
                <a:spcPts val="1200"/>
              </a:spcBef>
              <a:defRPr b="1" sz="1200">
                <a:solidFill>
                  <a:srgbClr val="38BDF8"/>
                </a:solidFill>
              </a:defRPr>
            </a:pPr>
            <a:r>
              <a:t>Multiplatform Build: </a:t>
            </a:r>
            <a:r>
              <a:rPr b="0">
                <a:solidFill>
                  <a:srgbClr val="94A3B8"/>
                </a:solidFill>
              </a:rPr>
              <a:t>Supports simultaneous deployment to Android AVD, Windows Desktop, and Google Chrome.</a:t>
            </a:r>
          </a:p>
          <a:p>
            <a:pPr>
              <a:spcBef>
                <a:spcPts val="1200"/>
              </a:spcBef>
              <a:defRPr b="1" sz="1200">
                <a:solidFill>
                  <a:srgbClr val="38BDF8"/>
                </a:solidFill>
              </a:defRPr>
            </a:pPr>
            <a:r>
              <a:t>Integrated Terminal: </a:t>
            </a:r>
            <a:r>
              <a:rPr b="0">
                <a:solidFill>
                  <a:srgbClr val="94A3B8"/>
                </a:solidFill>
              </a:rPr>
              <a:t>Direct execution of flutter pub get, flutter run, and git commands.</a:t>
            </a:r>
          </a:p>
        </p:txBody>
      </p:sp>
      <p:pic>
        <p:nvPicPr>
          <p:cNvPr id="7" name="Picture 6" descr="page_3_5__Imag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63040"/>
            <a:ext cx="5699455" cy="34781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Kevin | 2º DAM — Programación Móvil y Desarrollo de Interfaces | Entorno de Desarrollo Flutter &amp; Emuladores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94A3B8"/>
                </a:solidFill>
              </a:defRPr>
            </a:pPr>
            <a: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05 | VIRTUALIZATION &amp; DEVICES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5. Connecting Programs with Emulators (Genymotion &amp; Android Studio)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754880" cy="4709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389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b="1" sz="1200">
                <a:solidFill>
                  <a:srgbClr val="38BDF8"/>
                </a:solidFill>
              </a:defRPr>
            </a:pPr>
            <a:r>
              <a:t>Genymotion Desktop: </a:t>
            </a:r>
            <a:r>
              <a:rPr b="0">
                <a:solidFill>
                  <a:srgbClr val="94A3B8"/>
                </a:solidFill>
              </a:rPr>
              <a:t>Virtual device running Android 13 configured via Personal Use license.</a:t>
            </a:r>
          </a:p>
          <a:p>
            <a:pPr>
              <a:spcBef>
                <a:spcPts val="1200"/>
              </a:spcBef>
              <a:defRPr b="1" sz="1200">
                <a:solidFill>
                  <a:srgbClr val="38BDF8"/>
                </a:solidFill>
              </a:defRPr>
            </a:pPr>
            <a:r>
              <a:t>QEMU Hypervisor: </a:t>
            </a:r>
            <a:r>
              <a:rPr b="0">
                <a:solidFill>
                  <a:srgbClr val="94A3B8"/>
                </a:solidFill>
              </a:rPr>
              <a:t>Configured gmtool config --hypervisor qemu for seamless Windows 11 compatibility.</a:t>
            </a:r>
          </a:p>
          <a:p>
            <a:pPr>
              <a:spcBef>
                <a:spcPts val="1200"/>
              </a:spcBef>
              <a:defRPr b="1" sz="1200">
                <a:solidFill>
                  <a:srgbClr val="38BDF8"/>
                </a:solidFill>
              </a:defRPr>
            </a:pPr>
            <a:r>
              <a:t>Shared Android SDK: </a:t>
            </a:r>
            <a:r>
              <a:rPr b="0">
                <a:solidFill>
                  <a:srgbClr val="94A3B8"/>
                </a:solidFill>
              </a:rPr>
              <a:t>Genymotion linked to system SDK to unify ADB communication without conflicts.</a:t>
            </a:r>
          </a:p>
          <a:p>
            <a:pPr>
              <a:spcBef>
                <a:spcPts val="1200"/>
              </a:spcBef>
              <a:defRPr b="1" sz="1200">
                <a:solidFill>
                  <a:srgbClr val="38BDF8"/>
                </a:solidFill>
              </a:defRPr>
            </a:pPr>
            <a:r>
              <a:t>Android Studio AVD: </a:t>
            </a:r>
            <a:r>
              <a:rPr b="0">
                <a:solidFill>
                  <a:srgbClr val="94A3B8"/>
                </a:solidFill>
              </a:rPr>
              <a:t>Native Small_Phone emulator accelerated by NVIDIA RTX 4060 via WHPX.</a:t>
            </a:r>
          </a:p>
          <a:p>
            <a:pPr>
              <a:spcBef>
                <a:spcPts val="1200"/>
              </a:spcBef>
              <a:defRPr b="1" sz="1200">
                <a:solidFill>
                  <a:srgbClr val="38BDF8"/>
                </a:solidFill>
              </a:defRPr>
            </a:pPr>
            <a:r>
              <a:t>Deployment Commands: </a:t>
            </a:r>
            <a:r>
              <a:rPr b="0">
                <a:solidFill>
                  <a:srgbClr val="94A3B8"/>
                </a:solidFill>
              </a:rPr>
              <a:t>flutter devices automatically detects active instances; run with flutter run -d &lt;id&gt;.</a:t>
            </a:r>
          </a:p>
        </p:txBody>
      </p:sp>
      <p:pic>
        <p:nvPicPr>
          <p:cNvPr id="7" name="Picture 6" descr="page_4_6__Image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63040"/>
            <a:ext cx="5699455" cy="33459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Kevin | 2º DAM — Programación Móvil y Desarrollo de Interfaces | Entorno de Desarrollo Flutter &amp; Emuladores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94A3B8"/>
                </a:solidFill>
              </a:defRPr>
            </a:pPr>
            <a: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06 | EVALUATION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Deliverable Verification &amp; Summary of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64592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572768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F8FAFC"/>
                </a:solidFill>
              </a:defRPr>
            </a:pPr>
            <a:r>
              <a:t>1. Android Studio &amp; SDK Tools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Completed: Android Studio installed in D:\aplicaciones, Android SDK with Command-line Tools active.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728655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6032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487168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F8FAFC"/>
                </a:solidFill>
              </a:defRPr>
            </a:pPr>
            <a:r>
              <a:t>2. Flutter SDK &amp; flutter doctor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Completed: Flutter 3.47.5 stable installed, PATH configured, doctor report 100% green for Android/Web.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91840"/>
            <a:ext cx="10728655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347472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401568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F8FAFC"/>
                </a:solidFill>
              </a:defRPr>
            </a:pPr>
            <a:r>
              <a:t>3. VS Code Configuration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Completed: Dart &amp; Flutter extensions loaded, settings.json configured with automatic SDK detection.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10728655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5840" y="438912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315968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F8FAFC"/>
                </a:solidFill>
              </a:defRPr>
            </a:pPr>
            <a:r>
              <a:t>4. First Flutter Project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Completed: mi_primer_proyecto customized with Material 3, amber theme, localized strings &amp; Hot Reload.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20640"/>
            <a:ext cx="10728655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5230368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F8FAFC"/>
                </a:solidFill>
              </a:defRPr>
            </a:pPr>
            <a:r>
              <a:t>5. Emulators (Genymotion &amp; AVD)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Completed: Genymotion running Android 13 via QEMU, Android Studio AVD active with GPU acceleration.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Kevin | 2º DAM — Programación Móvil y Desarrollo de Interfaces | Entorno de Desarrollo Flutter &amp; Emuladores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94A3B8"/>
                </a:solidFill>
              </a:defRPr>
            </a:pPr>
            <a: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