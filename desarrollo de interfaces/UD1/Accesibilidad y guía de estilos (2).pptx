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8" r:id="rId3"/>
    <p:sldId id="270" r:id="rId4"/>
    <p:sldId id="269" r:id="rId5"/>
    <p:sldId id="262" r:id="rId6"/>
    <p:sldId id="259" r:id="rId7"/>
    <p:sldId id="260" r:id="rId8"/>
    <p:sldId id="261" r:id="rId9"/>
    <p:sldId id="263" r:id="rId10"/>
    <p:sldId id="271" r:id="rId11"/>
    <p:sldId id="267" r:id="rId12"/>
    <p:sldId id="268" r:id="rId13"/>
    <p:sldId id="264" r:id="rId14"/>
    <p:sldId id="265" r:id="rId15"/>
    <p:sldId id="266" r:id="rId16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200"/>
    <a:srgbClr val="B6D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29EF3C-E995-4F8E-A2C4-1F93DEB5562A}" v="1" dt="2026-09-15T09:24:32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Z MOYA, JUAN" userId="76ab3942-6430-44f5-adc3-b93c72312323" providerId="ADAL" clId="{C42BD588-5551-44D4-BD36-38882D20F221}"/>
    <pc:docChg chg="undo custSel addSld modSld">
      <pc:chgData name="SANZ MOYA, JUAN" userId="76ab3942-6430-44f5-adc3-b93c72312323" providerId="ADAL" clId="{C42BD588-5551-44D4-BD36-38882D20F221}" dt="2026-09-15T10:13:27.908" v="690" actId="1076"/>
      <pc:docMkLst>
        <pc:docMk/>
      </pc:docMkLst>
      <pc:sldChg chg="addSp delSp modSp mod">
        <pc:chgData name="SANZ MOYA, JUAN" userId="76ab3942-6430-44f5-adc3-b93c72312323" providerId="ADAL" clId="{C42BD588-5551-44D4-BD36-38882D20F221}" dt="2026-09-15T09:18:42.727" v="334" actId="20577"/>
        <pc:sldMkLst>
          <pc:docMk/>
          <pc:sldMk cId="2976549695" sldId="258"/>
        </pc:sldMkLst>
        <pc:spChg chg="add del mod">
          <ac:chgData name="SANZ MOYA, JUAN" userId="76ab3942-6430-44f5-adc3-b93c72312323" providerId="ADAL" clId="{C42BD588-5551-44D4-BD36-38882D20F221}" dt="2026-09-15T09:16:02.159" v="175" actId="478"/>
          <ac:spMkLst>
            <pc:docMk/>
            <pc:sldMk cId="2976549695" sldId="258"/>
            <ac:spMk id="4" creationId="{D3BAAF83-C74E-D114-2BE7-DE23FF685987}"/>
          </ac:spMkLst>
        </pc:spChg>
        <pc:spChg chg="mod">
          <ac:chgData name="SANZ MOYA, JUAN" userId="76ab3942-6430-44f5-adc3-b93c72312323" providerId="ADAL" clId="{C42BD588-5551-44D4-BD36-38882D20F221}" dt="2026-09-15T09:13:19.253" v="43" actId="20577"/>
          <ac:spMkLst>
            <pc:docMk/>
            <pc:sldMk cId="2976549695" sldId="258"/>
            <ac:spMk id="72" creationId="{00000000-0000-0000-0000-000000000000}"/>
          </ac:spMkLst>
        </pc:spChg>
        <pc:spChg chg="mod">
          <ac:chgData name="SANZ MOYA, JUAN" userId="76ab3942-6430-44f5-adc3-b93c72312323" providerId="ADAL" clId="{C42BD588-5551-44D4-BD36-38882D20F221}" dt="2026-09-15T09:18:42.727" v="334" actId="20577"/>
          <ac:spMkLst>
            <pc:docMk/>
            <pc:sldMk cId="2976549695" sldId="258"/>
            <ac:spMk id="73" creationId="{00000000-0000-0000-0000-000000000000}"/>
          </ac:spMkLst>
        </pc:spChg>
        <pc:spChg chg="del">
          <ac:chgData name="SANZ MOYA, JUAN" userId="76ab3942-6430-44f5-adc3-b93c72312323" providerId="ADAL" clId="{C42BD588-5551-44D4-BD36-38882D20F221}" dt="2026-09-15T09:14:21.636" v="46" actId="478"/>
          <ac:spMkLst>
            <pc:docMk/>
            <pc:sldMk cId="2976549695" sldId="258"/>
            <ac:spMk id="76" creationId="{00000000-0000-0000-0000-000000000000}"/>
          </ac:spMkLst>
        </pc:spChg>
        <pc:cxnChg chg="del">
          <ac:chgData name="SANZ MOYA, JUAN" userId="76ab3942-6430-44f5-adc3-b93c72312323" providerId="ADAL" clId="{C42BD588-5551-44D4-BD36-38882D20F221}" dt="2026-09-15T09:14:22.518" v="47" actId="478"/>
          <ac:cxnSpMkLst>
            <pc:docMk/>
            <pc:sldMk cId="2976549695" sldId="258"/>
            <ac:cxnSpMk id="74" creationId="{00000000-0000-0000-0000-000000000000}"/>
          </ac:cxnSpMkLst>
        </pc:cxnChg>
      </pc:sldChg>
      <pc:sldChg chg="modSp mod">
        <pc:chgData name="SANZ MOYA, JUAN" userId="76ab3942-6430-44f5-adc3-b93c72312323" providerId="ADAL" clId="{C42BD588-5551-44D4-BD36-38882D20F221}" dt="2026-09-15T09:41:09.274" v="667" actId="20577"/>
        <pc:sldMkLst>
          <pc:docMk/>
          <pc:sldMk cId="1370486239" sldId="262"/>
        </pc:sldMkLst>
        <pc:spChg chg="mod">
          <ac:chgData name="SANZ MOYA, JUAN" userId="76ab3942-6430-44f5-adc3-b93c72312323" providerId="ADAL" clId="{C42BD588-5551-44D4-BD36-38882D20F221}" dt="2026-09-15T09:41:09.274" v="667" actId="20577"/>
          <ac:spMkLst>
            <pc:docMk/>
            <pc:sldMk cId="1370486239" sldId="262"/>
            <ac:spMk id="3" creationId="{F01CB153-72C8-598D-543E-8018B0BE3706}"/>
          </ac:spMkLst>
        </pc:spChg>
      </pc:sldChg>
      <pc:sldChg chg="modSp mod">
        <pc:chgData name="SANZ MOYA, JUAN" userId="76ab3942-6430-44f5-adc3-b93c72312323" providerId="ADAL" clId="{C42BD588-5551-44D4-BD36-38882D20F221}" dt="2026-09-15T10:10:02.121" v="669" actId="1076"/>
        <pc:sldMkLst>
          <pc:docMk/>
          <pc:sldMk cId="744528770" sldId="263"/>
        </pc:sldMkLst>
        <pc:spChg chg="mod">
          <ac:chgData name="SANZ MOYA, JUAN" userId="76ab3942-6430-44f5-adc3-b93c72312323" providerId="ADAL" clId="{C42BD588-5551-44D4-BD36-38882D20F221}" dt="2026-09-15T10:10:02.121" v="669" actId="1076"/>
          <ac:spMkLst>
            <pc:docMk/>
            <pc:sldMk cId="744528770" sldId="263"/>
            <ac:spMk id="3" creationId="{2ECA47A7-8992-56CB-5054-C83FFE5A57E6}"/>
          </ac:spMkLst>
        </pc:spChg>
      </pc:sldChg>
      <pc:sldChg chg="add">
        <pc:chgData name="SANZ MOYA, JUAN" userId="76ab3942-6430-44f5-adc3-b93c72312323" providerId="ADAL" clId="{C42BD588-5551-44D4-BD36-38882D20F221}" dt="2026-09-15T09:13:10.860" v="0" actId="2890"/>
        <pc:sldMkLst>
          <pc:docMk/>
          <pc:sldMk cId="1782752378" sldId="269"/>
        </pc:sldMkLst>
      </pc:sldChg>
      <pc:sldChg chg="modSp add mod">
        <pc:chgData name="SANZ MOYA, JUAN" userId="76ab3942-6430-44f5-adc3-b93c72312323" providerId="ADAL" clId="{C42BD588-5551-44D4-BD36-38882D20F221}" dt="2026-09-15T09:32:37.890" v="645" actId="20577"/>
        <pc:sldMkLst>
          <pc:docMk/>
          <pc:sldMk cId="931673667" sldId="270"/>
        </pc:sldMkLst>
        <pc:spChg chg="mod">
          <ac:chgData name="SANZ MOYA, JUAN" userId="76ab3942-6430-44f5-adc3-b93c72312323" providerId="ADAL" clId="{C42BD588-5551-44D4-BD36-38882D20F221}" dt="2026-09-15T09:23:55.186" v="339" actId="20577"/>
          <ac:spMkLst>
            <pc:docMk/>
            <pc:sldMk cId="931673667" sldId="270"/>
            <ac:spMk id="72" creationId="{D42D0632-7195-7896-7432-0E3DF9120519}"/>
          </ac:spMkLst>
        </pc:spChg>
        <pc:spChg chg="mod">
          <ac:chgData name="SANZ MOYA, JUAN" userId="76ab3942-6430-44f5-adc3-b93c72312323" providerId="ADAL" clId="{C42BD588-5551-44D4-BD36-38882D20F221}" dt="2026-09-15T09:32:37.890" v="645" actId="20577"/>
          <ac:spMkLst>
            <pc:docMk/>
            <pc:sldMk cId="931673667" sldId="270"/>
            <ac:spMk id="73" creationId="{21782C32-B770-FB00-5A88-B8C2E32A71AF}"/>
          </ac:spMkLst>
        </pc:spChg>
      </pc:sldChg>
      <pc:sldChg chg="addSp delSp modSp add mod">
        <pc:chgData name="SANZ MOYA, JUAN" userId="76ab3942-6430-44f5-adc3-b93c72312323" providerId="ADAL" clId="{C42BD588-5551-44D4-BD36-38882D20F221}" dt="2026-09-15T10:13:27.908" v="690" actId="1076"/>
        <pc:sldMkLst>
          <pc:docMk/>
          <pc:sldMk cId="1122501918" sldId="271"/>
        </pc:sldMkLst>
        <pc:spChg chg="del mod">
          <ac:chgData name="SANZ MOYA, JUAN" userId="76ab3942-6430-44f5-adc3-b93c72312323" providerId="ADAL" clId="{C42BD588-5551-44D4-BD36-38882D20F221}" dt="2026-09-15T10:12:55.127" v="672" actId="478"/>
          <ac:spMkLst>
            <pc:docMk/>
            <pc:sldMk cId="1122501918" sldId="271"/>
            <ac:spMk id="3" creationId="{38281000-7D4A-5E71-026A-D97ABFBC319E}"/>
          </ac:spMkLst>
        </pc:spChg>
        <pc:spChg chg="add del mod">
          <ac:chgData name="SANZ MOYA, JUAN" userId="76ab3942-6430-44f5-adc3-b93c72312323" providerId="ADAL" clId="{C42BD588-5551-44D4-BD36-38882D20F221}" dt="2026-09-15T10:13:19.233" v="685" actId="478"/>
          <ac:spMkLst>
            <pc:docMk/>
            <pc:sldMk cId="1122501918" sldId="271"/>
            <ac:spMk id="5" creationId="{1C50FC0E-E2A0-A975-D3B0-C03D1537237C}"/>
          </ac:spMkLst>
        </pc:spChg>
        <pc:spChg chg="del mod">
          <ac:chgData name="SANZ MOYA, JUAN" userId="76ab3942-6430-44f5-adc3-b93c72312323" providerId="ADAL" clId="{C42BD588-5551-44D4-BD36-38882D20F221}" dt="2026-09-15T10:12:56.768" v="674" actId="478"/>
          <ac:spMkLst>
            <pc:docMk/>
            <pc:sldMk cId="1122501918" sldId="271"/>
            <ac:spMk id="7" creationId="{88009DFE-4DC0-E30C-7007-56B6B9ECBDB7}"/>
          </ac:spMkLst>
        </pc:spChg>
        <pc:spChg chg="add del mod">
          <ac:chgData name="SANZ MOYA, JUAN" userId="76ab3942-6430-44f5-adc3-b93c72312323" providerId="ADAL" clId="{C42BD588-5551-44D4-BD36-38882D20F221}" dt="2026-09-15T10:13:18.521" v="684" actId="478"/>
          <ac:spMkLst>
            <pc:docMk/>
            <pc:sldMk cId="1122501918" sldId="271"/>
            <ac:spMk id="10" creationId="{C50EFE6D-4EE1-64FA-28FF-B0D03CBF408F}"/>
          </ac:spMkLst>
        </pc:spChg>
        <pc:spChg chg="del">
          <ac:chgData name="SANZ MOYA, JUAN" userId="76ab3942-6430-44f5-adc3-b93c72312323" providerId="ADAL" clId="{C42BD588-5551-44D4-BD36-38882D20F221}" dt="2026-09-15T10:13:12.767" v="680" actId="478"/>
          <ac:spMkLst>
            <pc:docMk/>
            <pc:sldMk cId="1122501918" sldId="271"/>
            <ac:spMk id="72" creationId="{C3750BE2-66AA-69E3-5646-E7854E439F61}"/>
          </ac:spMkLst>
        </pc:spChg>
        <pc:spChg chg="del">
          <ac:chgData name="SANZ MOYA, JUAN" userId="76ab3942-6430-44f5-adc3-b93c72312323" providerId="ADAL" clId="{C42BD588-5551-44D4-BD36-38882D20F221}" dt="2026-09-15T10:12:59.308" v="676" actId="478"/>
          <ac:spMkLst>
            <pc:docMk/>
            <pc:sldMk cId="1122501918" sldId="271"/>
            <ac:spMk id="76" creationId="{E3FAA662-0962-6B10-EE8B-137349062804}"/>
          </ac:spMkLst>
        </pc:spChg>
        <pc:picChg chg="add del mod">
          <ac:chgData name="SANZ MOYA, JUAN" userId="76ab3942-6430-44f5-adc3-b93c72312323" providerId="ADAL" clId="{C42BD588-5551-44D4-BD36-38882D20F221}" dt="2026-09-15T10:13:27.908" v="690" actId="1076"/>
          <ac:picMkLst>
            <pc:docMk/>
            <pc:sldMk cId="1122501918" sldId="271"/>
            <ac:picMk id="8" creationId="{0B671173-B59D-8532-8ECB-AD842ACB9F26}"/>
          </ac:picMkLst>
        </pc:picChg>
        <pc:cxnChg chg="del">
          <ac:chgData name="SANZ MOYA, JUAN" userId="76ab3942-6430-44f5-adc3-b93c72312323" providerId="ADAL" clId="{C42BD588-5551-44D4-BD36-38882D20F221}" dt="2026-09-15T10:12:57.688" v="675" actId="478"/>
          <ac:cxnSpMkLst>
            <pc:docMk/>
            <pc:sldMk cId="1122501918" sldId="271"/>
            <ac:cxnSpMk id="74" creationId="{F60128A2-587F-27A6-9119-4E1E216AACDB}"/>
          </ac:cxnSpMkLst>
        </pc:cxnChg>
        <pc:cxnChg chg="del">
          <ac:chgData name="SANZ MOYA, JUAN" userId="76ab3942-6430-44f5-adc3-b93c72312323" providerId="ADAL" clId="{C42BD588-5551-44D4-BD36-38882D20F221}" dt="2026-09-15T10:13:17.208" v="683" actId="478"/>
          <ac:cxnSpMkLst>
            <pc:docMk/>
            <pc:sldMk cId="1122501918" sldId="271"/>
            <ac:cxnSpMk id="75" creationId="{13A85CD3-4939-E601-FECF-77A0A1F868B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9169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386281B-EB01-9579-37D6-FECD9741F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>
            <a:extLst>
              <a:ext uri="{FF2B5EF4-FFF2-40B4-BE49-F238E27FC236}">
                <a16:creationId xmlns:a16="http://schemas.microsoft.com/office/drawing/2014/main" id="{CA0FABEC-B7A3-D9F0-2C91-662746EA4C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>
            <a:extLst>
              <a:ext uri="{FF2B5EF4-FFF2-40B4-BE49-F238E27FC236}">
                <a16:creationId xmlns:a16="http://schemas.microsoft.com/office/drawing/2014/main" id="{F6FC6261-2BB1-6FD9-1E86-3A2143A390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5232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42EC0BF-2217-1600-FFFA-A4A109EBA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>
            <a:extLst>
              <a:ext uri="{FF2B5EF4-FFF2-40B4-BE49-F238E27FC236}">
                <a16:creationId xmlns:a16="http://schemas.microsoft.com/office/drawing/2014/main" id="{732C57B2-22B8-36C8-7D41-589D69620C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>
            <a:extLst>
              <a:ext uri="{FF2B5EF4-FFF2-40B4-BE49-F238E27FC236}">
                <a16:creationId xmlns:a16="http://schemas.microsoft.com/office/drawing/2014/main" id="{C761D6D9-6472-30E6-F44C-AB985E9B2E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1657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068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0868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4149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2536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23936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237DFAD-7C02-A5DE-00E2-A28EB4AF3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>
            <a:extLst>
              <a:ext uri="{FF2B5EF4-FFF2-40B4-BE49-F238E27FC236}">
                <a16:creationId xmlns:a16="http://schemas.microsoft.com/office/drawing/2014/main" id="{B9D41BA5-2013-B316-81EF-014ADF050A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>
            <a:extLst>
              <a:ext uri="{FF2B5EF4-FFF2-40B4-BE49-F238E27FC236}">
                <a16:creationId xmlns:a16="http://schemas.microsoft.com/office/drawing/2014/main" id="{C1CBEDCC-2668-F479-200E-F74CB91C23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4871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6975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483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48504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8959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687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WAI/WCAG22/quickref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color.adobe.com/es/create/color-wheel" TargetMode="External"/><Relationship Id="rId4" Type="http://schemas.openxmlformats.org/officeDocument/2006/relationships/hyperlink" Target="https://coolors.co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fonts.google.com/" TargetMode="Externa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awesome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fonts.google.com/icons" TargetMode="External"/><Relationship Id="rId4" Type="http://schemas.openxmlformats.org/officeDocument/2006/relationships/hyperlink" Target="https://www.svgrepo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ixabay.com/es/" TargetMode="External"/><Relationship Id="rId5" Type="http://schemas.openxmlformats.org/officeDocument/2006/relationships/hyperlink" Target="https://www.freepik.es/" TargetMode="External"/><Relationship Id="rId4" Type="http://schemas.openxmlformats.org/officeDocument/2006/relationships/hyperlink" Target="https://www.goo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1539950"/>
            <a:ext cx="9144000" cy="1161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50800" y="1847660"/>
            <a:ext cx="9144000" cy="5461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Accesibilidad y diseño</a:t>
            </a:r>
            <a:endParaRPr sz="280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4513800" y="4408250"/>
            <a:ext cx="42561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 dirty="0">
                <a:latin typeface="Century Gothic"/>
                <a:ea typeface="Century Gothic"/>
                <a:cs typeface="Century Gothic"/>
                <a:sym typeface="Century Gothic"/>
              </a:rPr>
              <a:t>Prof. Juan Sanz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3297575" y="3877150"/>
            <a:ext cx="54723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dirty="0">
                <a:latin typeface="Century Gothic"/>
                <a:ea typeface="Century Gothic"/>
                <a:cs typeface="Century Gothic"/>
                <a:sym typeface="Century Gothic"/>
              </a:rPr>
              <a:t>Accesibilidad y diseño</a:t>
            </a:r>
          </a:p>
        </p:txBody>
      </p:sp>
      <p:cxnSp>
        <p:nvCxnSpPr>
          <p:cNvPr id="63" name="Google Shape;63;p13"/>
          <p:cNvCxnSpPr/>
          <p:nvPr/>
        </p:nvCxnSpPr>
        <p:spPr>
          <a:xfrm>
            <a:off x="2991900" y="4388025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A9BA40F9-5E00-6FA5-53AD-43B5965D1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230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1835850" y="112662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entury Gothic"/>
                <a:ea typeface="Century Gothic"/>
                <a:cs typeface="Century Gothic"/>
                <a:sym typeface="Century Gothic"/>
              </a:rPr>
              <a:t>Concepto de Accesibilidad</a:t>
            </a: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1"/>
          </p:nvPr>
        </p:nvSpPr>
        <p:spPr>
          <a:xfrm>
            <a:off x="406400" y="1751463"/>
            <a:ext cx="8520600" cy="31027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Consiste en desarrollar aplicaciones que puedan ser utilizadas y comprendidas por todo tipo de usuarios</a:t>
            </a: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Lectores de pantalla o navegación por teclado</a:t>
            </a: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accesibilidad no es un extra del diseño. No implementarla es un error del propio diseño.</a:t>
            </a:r>
            <a:endParaRPr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5" name="Google Shape;75;p14"/>
          <p:cNvCxnSpPr/>
          <p:nvPr/>
        </p:nvCxnSpPr>
        <p:spPr>
          <a:xfrm>
            <a:off x="1651800" y="1652350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33C52936-AF98-670A-A070-5B77B4832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549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2F1E6E8-324F-2FF1-B4A6-1C2B6928C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4E588956-80BD-83C4-FF67-9F80002A77DE}"/>
              </a:ext>
            </a:extLst>
          </p:cNvPr>
          <p:cNvSpPr txBox="1"/>
          <p:nvPr/>
        </p:nvSpPr>
        <p:spPr>
          <a:xfrm>
            <a:off x="1230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0EF3C89C-42B1-4915-1660-51007D71F80C}"/>
              </a:ext>
            </a:extLst>
          </p:cNvPr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112F497C-6827-B52F-3009-5809A921D916}"/>
              </a:ext>
            </a:extLst>
          </p:cNvPr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D42D0632-7195-7896-7432-0E3DF912051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35850" y="112662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entury Gothic"/>
                <a:ea typeface="Century Gothic"/>
                <a:cs typeface="Century Gothic"/>
                <a:sym typeface="Century Gothic"/>
              </a:rPr>
              <a:t>WCAG</a:t>
            </a: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21782C32-B770-FB00-5A88-B8C2E32A71A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6400" y="1751463"/>
            <a:ext cx="8520600" cy="31027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WCAG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nos marca las pautas de accesibilidad que deberemos de implementar en nuestras aplicaciones.</a:t>
            </a: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Existen tres niveles</a:t>
            </a:r>
          </a:p>
          <a:p>
            <a:pPr marL="800100" lvl="1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: Accesibilidad mínima para PoC, MVP</a:t>
            </a:r>
          </a:p>
          <a:p>
            <a:pPr marL="800100" lvl="1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AA : Estándar obligatorio</a:t>
            </a:r>
          </a:p>
          <a:p>
            <a:pPr marL="800100" lvl="1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AAA : Máxima accesibilidad, no obligatorio</a:t>
            </a: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5" name="Google Shape;75;p14">
            <a:extLst>
              <a:ext uri="{FF2B5EF4-FFF2-40B4-BE49-F238E27FC236}">
                <a16:creationId xmlns:a16="http://schemas.microsoft.com/office/drawing/2014/main" id="{86F0F71F-4721-78A2-2D5F-A8DF8A05CDEE}"/>
              </a:ext>
            </a:extLst>
          </p:cNvPr>
          <p:cNvCxnSpPr/>
          <p:nvPr/>
        </p:nvCxnSpPr>
        <p:spPr>
          <a:xfrm>
            <a:off x="1651800" y="1652350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63075890-F106-19D0-A45A-43D4E8B95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73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564535F2-63BD-150D-B49D-7CE1F3F5F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CC20413D-2A18-B904-04C9-F47312968B43}"/>
              </a:ext>
            </a:extLst>
          </p:cNvPr>
          <p:cNvSpPr txBox="1"/>
          <p:nvPr/>
        </p:nvSpPr>
        <p:spPr>
          <a:xfrm>
            <a:off x="1230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4EF5A5CA-AF5B-3651-BF32-5BDB2C807B34}"/>
              </a:ext>
            </a:extLst>
          </p:cNvPr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8D6CF7BD-5472-598D-0943-347FE855EAFB}"/>
              </a:ext>
            </a:extLst>
          </p:cNvPr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58397E0A-CEFA-777E-260B-AFA437DA106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35850" y="112662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entury Gothic"/>
                <a:ea typeface="Century Gothic"/>
                <a:cs typeface="Century Gothic"/>
                <a:sym typeface="Century Gothic"/>
              </a:rPr>
              <a:t>G</a:t>
            </a:r>
            <a:r>
              <a:rPr lang="es" sz="2200" b="1" dirty="0">
                <a:latin typeface="Century Gothic"/>
                <a:ea typeface="Century Gothic"/>
                <a:cs typeface="Century Gothic"/>
                <a:sym typeface="Century Gothic"/>
              </a:rPr>
              <a:t>uía de estilos</a:t>
            </a: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EC1A1423-EB78-D377-CCC9-818E22EEE1D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5425" y="1935850"/>
            <a:ext cx="7747800" cy="20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Una guía de estilos es un documento que ayuda a mantener la coherencia visual en el diseño del software.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Independientemente de quien desarrolle una nueva pantalla, deberá apoyarse en esta guía.</a:t>
            </a:r>
            <a:endParaRPr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>
            <a:extLst>
              <a:ext uri="{FF2B5EF4-FFF2-40B4-BE49-F238E27FC236}">
                <a16:creationId xmlns:a16="http://schemas.microsoft.com/office/drawing/2014/main" id="{41BD8208-7AD3-EDCC-0EED-BAB27AF240EB}"/>
              </a:ext>
            </a:extLst>
          </p:cNvPr>
          <p:cNvCxnSpPr/>
          <p:nvPr/>
        </p:nvCxnSpPr>
        <p:spPr>
          <a:xfrm>
            <a:off x="3001075" y="4388025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>
            <a:extLst>
              <a:ext uri="{FF2B5EF4-FFF2-40B4-BE49-F238E27FC236}">
                <a16:creationId xmlns:a16="http://schemas.microsoft.com/office/drawing/2014/main" id="{C6F70A78-DE2B-BE55-7FC9-8C35BF0AA12B}"/>
              </a:ext>
            </a:extLst>
          </p:cNvPr>
          <p:cNvCxnSpPr/>
          <p:nvPr/>
        </p:nvCxnSpPr>
        <p:spPr>
          <a:xfrm>
            <a:off x="1651800" y="1652350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7507184B-970B-FE8C-CFFE-5BABED39A9D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13800" y="4408250"/>
            <a:ext cx="42561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i="1" dirty="0">
                <a:latin typeface="Century Gothic"/>
                <a:ea typeface="Century Gothic"/>
                <a:cs typeface="Century Gothic"/>
                <a:sym typeface="Century Gothic"/>
              </a:rPr>
              <a:t>Desarrollo de interfaces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27AF359-8A08-2A12-F12E-0A4DF6614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752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230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1835850" y="112662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entury Gothic"/>
                <a:ea typeface="Century Gothic"/>
                <a:cs typeface="Century Gothic"/>
                <a:sym typeface="Century Gothic"/>
              </a:rPr>
              <a:t>¿Qué debe contener?</a:t>
            </a: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1"/>
          </p:nvPr>
        </p:nvSpPr>
        <p:spPr>
          <a:xfrm>
            <a:off x="3876141" y="1844587"/>
            <a:ext cx="1391718" cy="6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Temática</a:t>
            </a:r>
            <a:endParaRPr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3001075" y="4388025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/>
          <p:cNvCxnSpPr/>
          <p:nvPr/>
        </p:nvCxnSpPr>
        <p:spPr>
          <a:xfrm>
            <a:off x="1651800" y="1652350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76;p14"/>
          <p:cNvSpPr txBox="1">
            <a:spLocks noGrp="1"/>
          </p:cNvSpPr>
          <p:nvPr>
            <p:ph type="subTitle" idx="1"/>
          </p:nvPr>
        </p:nvSpPr>
        <p:spPr>
          <a:xfrm>
            <a:off x="4513800" y="4408250"/>
            <a:ext cx="42561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i="1" dirty="0">
                <a:latin typeface="Century Gothic"/>
                <a:ea typeface="Century Gothic"/>
                <a:cs typeface="Century Gothic"/>
                <a:sym typeface="Century Gothic"/>
              </a:rPr>
              <a:t>Desarrollo de interfaces</a:t>
            </a:r>
          </a:p>
        </p:txBody>
      </p:sp>
      <p:sp>
        <p:nvSpPr>
          <p:cNvPr id="3" name="Google Shape;73;p14">
            <a:extLst>
              <a:ext uri="{FF2B5EF4-FFF2-40B4-BE49-F238E27FC236}">
                <a16:creationId xmlns:a16="http://schemas.microsoft.com/office/drawing/2014/main" id="{F01CB153-72C8-598D-543E-8018B0BE3706}"/>
              </a:ext>
            </a:extLst>
          </p:cNvPr>
          <p:cNvSpPr txBox="1">
            <a:spLocks/>
          </p:cNvSpPr>
          <p:nvPr/>
        </p:nvSpPr>
        <p:spPr>
          <a:xfrm>
            <a:off x="576953" y="2251454"/>
            <a:ext cx="7956347" cy="20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Propósito de nuestra aplicación</a:t>
            </a:r>
          </a:p>
          <a:p>
            <a:pPr marL="457200" lvl="1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-Elegancia y lujo : moda, productos premium</a:t>
            </a:r>
          </a:p>
          <a:p>
            <a:pPr marL="457200" lvl="1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-Tecnología e innovación</a:t>
            </a:r>
          </a:p>
          <a:p>
            <a:pPr marL="457200" lvl="1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-Calidez: blogs personales, productos artesanales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C0BC7C-7A40-2724-6F71-A5894DE7A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86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230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1835850" y="112662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entury Gothic"/>
                <a:ea typeface="Century Gothic"/>
                <a:cs typeface="Century Gothic"/>
                <a:sym typeface="Century Gothic"/>
              </a:rPr>
              <a:t>¿Qué debe contener?</a:t>
            </a: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1"/>
          </p:nvPr>
        </p:nvSpPr>
        <p:spPr>
          <a:xfrm>
            <a:off x="785425" y="1935850"/>
            <a:ext cx="7669146" cy="5823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Logotipo y variantes</a:t>
            </a:r>
            <a:endParaRPr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3001075" y="4388025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/>
          <p:cNvCxnSpPr/>
          <p:nvPr/>
        </p:nvCxnSpPr>
        <p:spPr>
          <a:xfrm>
            <a:off x="1651800" y="1652350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76;p14"/>
          <p:cNvSpPr txBox="1">
            <a:spLocks noGrp="1"/>
          </p:cNvSpPr>
          <p:nvPr>
            <p:ph type="subTitle" idx="1"/>
          </p:nvPr>
        </p:nvSpPr>
        <p:spPr>
          <a:xfrm>
            <a:off x="4513800" y="4408250"/>
            <a:ext cx="42561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i="1" dirty="0">
                <a:latin typeface="Century Gothic"/>
                <a:ea typeface="Century Gothic"/>
                <a:cs typeface="Century Gothic"/>
                <a:sym typeface="Century Gothic"/>
              </a:rPr>
              <a:t>Desarrollo de interfaces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ACD290C-FCAD-55D4-4D5B-CDD5206D4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25" y="2801719"/>
            <a:ext cx="2457450" cy="10858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7C4025D-9E30-8EDF-B897-633533791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825" y="2683051"/>
            <a:ext cx="1885950" cy="13620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AFC695B-7636-F2E1-531F-0F4ADD050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575" y="2754094"/>
            <a:ext cx="1466850" cy="11811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250888B-73E7-49F7-A3A8-C370D8B5DB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36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230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1835850" y="112662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entury Gothic"/>
                <a:ea typeface="Century Gothic"/>
                <a:cs typeface="Century Gothic"/>
                <a:sym typeface="Century Gothic"/>
              </a:rPr>
              <a:t>¿Qué debe contener?</a:t>
            </a: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1"/>
          </p:nvPr>
        </p:nvSpPr>
        <p:spPr>
          <a:xfrm>
            <a:off x="330653" y="1932178"/>
            <a:ext cx="7669146" cy="5823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Paleta de colores</a:t>
            </a:r>
            <a:endParaRPr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3001075" y="4388025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/>
          <p:cNvCxnSpPr/>
          <p:nvPr/>
        </p:nvCxnSpPr>
        <p:spPr>
          <a:xfrm>
            <a:off x="1651800" y="1652350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76;p14"/>
          <p:cNvSpPr txBox="1">
            <a:spLocks noGrp="1"/>
          </p:cNvSpPr>
          <p:nvPr>
            <p:ph type="subTitle" idx="1"/>
          </p:nvPr>
        </p:nvSpPr>
        <p:spPr>
          <a:xfrm>
            <a:off x="4513800" y="4408250"/>
            <a:ext cx="42561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i="1" dirty="0">
                <a:latin typeface="Century Gothic"/>
                <a:ea typeface="Century Gothic"/>
                <a:cs typeface="Century Gothic"/>
                <a:sym typeface="Century Gothic"/>
              </a:rPr>
              <a:t>Desarrollo de interfaces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F1D9446-C1F0-D9E1-B3BC-1D8A4FA93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53" y="2625281"/>
            <a:ext cx="3562350" cy="1466850"/>
          </a:xfrm>
          <a:prstGeom prst="rect">
            <a:avLst/>
          </a:prstGeom>
        </p:spPr>
      </p:pic>
      <p:sp>
        <p:nvSpPr>
          <p:cNvPr id="5" name="Google Shape;73;p14">
            <a:extLst>
              <a:ext uri="{FF2B5EF4-FFF2-40B4-BE49-F238E27FC236}">
                <a16:creationId xmlns:a16="http://schemas.microsoft.com/office/drawing/2014/main" id="{58B6DE66-E359-732A-F303-942E5C2217A9}"/>
              </a:ext>
            </a:extLst>
          </p:cNvPr>
          <p:cNvSpPr txBox="1">
            <a:spLocks/>
          </p:cNvSpPr>
          <p:nvPr/>
        </p:nvSpPr>
        <p:spPr>
          <a:xfrm>
            <a:off x="4098627" y="1914647"/>
            <a:ext cx="4616101" cy="2196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Evitar colores saturados</a:t>
            </a:r>
          </a:p>
          <a:p>
            <a:pPr marL="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Uso máximo de 4-5 colores</a:t>
            </a:r>
          </a:p>
          <a:p>
            <a:pPr marL="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Regla 60-30-10</a:t>
            </a:r>
          </a:p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</a:t>
            </a:r>
          </a:p>
        </p:txBody>
      </p:sp>
      <p:sp>
        <p:nvSpPr>
          <p:cNvPr id="12" name="Google Shape;73;p14">
            <a:extLst>
              <a:ext uri="{FF2B5EF4-FFF2-40B4-BE49-F238E27FC236}">
                <a16:creationId xmlns:a16="http://schemas.microsoft.com/office/drawing/2014/main" id="{4D187F13-39F2-4A6E-F1A5-D71D84C53C97}"/>
              </a:ext>
            </a:extLst>
          </p:cNvPr>
          <p:cNvSpPr txBox="1">
            <a:spLocks/>
          </p:cNvSpPr>
          <p:nvPr/>
        </p:nvSpPr>
        <p:spPr>
          <a:xfrm>
            <a:off x="4104714" y="3584032"/>
            <a:ext cx="1251058" cy="5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 err="1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/>
              </a:rPr>
              <a:t>Coolors</a:t>
            </a:r>
            <a:endParaRPr lang="es-ES"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" name="Google Shape;73;p14">
            <a:extLst>
              <a:ext uri="{FF2B5EF4-FFF2-40B4-BE49-F238E27FC236}">
                <a16:creationId xmlns:a16="http://schemas.microsoft.com/office/drawing/2014/main" id="{46B1EFA3-EF41-74A6-72F9-7223F15C6EC5}"/>
              </a:ext>
            </a:extLst>
          </p:cNvPr>
          <p:cNvSpPr txBox="1">
            <a:spLocks/>
          </p:cNvSpPr>
          <p:nvPr/>
        </p:nvSpPr>
        <p:spPr>
          <a:xfrm>
            <a:off x="6406677" y="3583035"/>
            <a:ext cx="2203158" cy="5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Adobe </a:t>
            </a:r>
            <a:r>
              <a:rPr lang="es-ES" sz="2000" dirty="0" err="1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colors</a:t>
            </a:r>
            <a:endParaRPr lang="es-ES"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9ECB0BE-C9EA-6E1E-3DCD-275F587D30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0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230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1835850" y="112662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entury Gothic"/>
                <a:ea typeface="Century Gothic"/>
                <a:cs typeface="Century Gothic"/>
                <a:sym typeface="Century Gothic"/>
              </a:rPr>
              <a:t>¿Qué debe contener?</a:t>
            </a: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3001075" y="4388025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/>
          <p:cNvCxnSpPr/>
          <p:nvPr/>
        </p:nvCxnSpPr>
        <p:spPr>
          <a:xfrm>
            <a:off x="1651800" y="1652350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76;p14"/>
          <p:cNvSpPr txBox="1">
            <a:spLocks noGrp="1"/>
          </p:cNvSpPr>
          <p:nvPr>
            <p:ph type="subTitle" idx="1"/>
          </p:nvPr>
        </p:nvSpPr>
        <p:spPr>
          <a:xfrm>
            <a:off x="4513800" y="4408250"/>
            <a:ext cx="42561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i="1" dirty="0">
                <a:latin typeface="Century Gothic"/>
                <a:ea typeface="Century Gothic"/>
                <a:cs typeface="Century Gothic"/>
                <a:sym typeface="Century Gothic"/>
              </a:rPr>
              <a:t>Desarrollo de interfaces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92496DF-7126-B640-AA6B-401FA6476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25" y="2380185"/>
            <a:ext cx="4280620" cy="173990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91AB10C-4463-26C5-849C-47EF86683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524" y="2380185"/>
            <a:ext cx="4280619" cy="1739908"/>
          </a:xfrm>
          <a:prstGeom prst="rect">
            <a:avLst/>
          </a:prstGeom>
        </p:spPr>
      </p:pic>
      <p:sp>
        <p:nvSpPr>
          <p:cNvPr id="7" name="Google Shape;73;p14">
            <a:extLst>
              <a:ext uri="{FF2B5EF4-FFF2-40B4-BE49-F238E27FC236}">
                <a16:creationId xmlns:a16="http://schemas.microsoft.com/office/drawing/2014/main" id="{3F26BC0B-C0E5-372C-053B-3CBF21E25B11}"/>
              </a:ext>
            </a:extLst>
          </p:cNvPr>
          <p:cNvSpPr txBox="1">
            <a:spLocks/>
          </p:cNvSpPr>
          <p:nvPr/>
        </p:nvSpPr>
        <p:spPr>
          <a:xfrm>
            <a:off x="1375559" y="1700776"/>
            <a:ext cx="2086097" cy="582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 </a:t>
            </a:r>
            <a:r>
              <a:rPr lang="es-ES" sz="2000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hacer</a:t>
            </a:r>
          </a:p>
        </p:txBody>
      </p:sp>
      <p:sp>
        <p:nvSpPr>
          <p:cNvPr id="8" name="Google Shape;73;p14">
            <a:extLst>
              <a:ext uri="{FF2B5EF4-FFF2-40B4-BE49-F238E27FC236}">
                <a16:creationId xmlns:a16="http://schemas.microsoft.com/office/drawing/2014/main" id="{3CBCDD36-8D0D-0F31-9894-B638E7C4590C}"/>
              </a:ext>
            </a:extLst>
          </p:cNvPr>
          <p:cNvSpPr txBox="1">
            <a:spLocks/>
          </p:cNvSpPr>
          <p:nvPr/>
        </p:nvSpPr>
        <p:spPr>
          <a:xfrm>
            <a:off x="6092425" y="1700776"/>
            <a:ext cx="1945150" cy="582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 </a:t>
            </a:r>
            <a:r>
              <a:rPr lang="es-ES" sz="2000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SÍ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hacer</a:t>
            </a:r>
          </a:p>
        </p:txBody>
      </p:sp>
      <p:sp>
        <p:nvSpPr>
          <p:cNvPr id="10" name="Google Shape;73;p14">
            <a:extLst>
              <a:ext uri="{FF2B5EF4-FFF2-40B4-BE49-F238E27FC236}">
                <a16:creationId xmlns:a16="http://schemas.microsoft.com/office/drawing/2014/main" id="{DF38C8DF-2167-4790-4EED-5FE4F9E93EC3}"/>
              </a:ext>
            </a:extLst>
          </p:cNvPr>
          <p:cNvSpPr txBox="1">
            <a:spLocks/>
          </p:cNvSpPr>
          <p:nvPr/>
        </p:nvSpPr>
        <p:spPr>
          <a:xfrm>
            <a:off x="4419541" y="1697227"/>
            <a:ext cx="537146" cy="582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33D0B2-C752-27FC-4B22-7A2E366AF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83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230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1835850" y="112662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entury Gothic"/>
                <a:ea typeface="Century Gothic"/>
                <a:cs typeface="Century Gothic"/>
                <a:sym typeface="Century Gothic"/>
              </a:rPr>
              <a:t>¿Qué debe contener?</a:t>
            </a: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3001075" y="4388025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/>
          <p:cNvCxnSpPr/>
          <p:nvPr/>
        </p:nvCxnSpPr>
        <p:spPr>
          <a:xfrm>
            <a:off x="1651800" y="1652350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76;p14"/>
          <p:cNvSpPr txBox="1">
            <a:spLocks noGrp="1"/>
          </p:cNvSpPr>
          <p:nvPr>
            <p:ph type="subTitle" idx="1"/>
          </p:nvPr>
        </p:nvSpPr>
        <p:spPr>
          <a:xfrm>
            <a:off x="4513800" y="4408250"/>
            <a:ext cx="42561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i="1" dirty="0">
                <a:latin typeface="Century Gothic"/>
                <a:ea typeface="Century Gothic"/>
                <a:cs typeface="Century Gothic"/>
                <a:sym typeface="Century Gothic"/>
              </a:rPr>
              <a:t>Desarrollo de interfaces</a:t>
            </a:r>
          </a:p>
        </p:txBody>
      </p:sp>
      <p:sp>
        <p:nvSpPr>
          <p:cNvPr id="7" name="Google Shape;73;p14">
            <a:extLst>
              <a:ext uri="{FF2B5EF4-FFF2-40B4-BE49-F238E27FC236}">
                <a16:creationId xmlns:a16="http://schemas.microsoft.com/office/drawing/2014/main" id="{3F26BC0B-C0E5-372C-053B-3CBF21E25B11}"/>
              </a:ext>
            </a:extLst>
          </p:cNvPr>
          <p:cNvSpPr txBox="1">
            <a:spLocks/>
          </p:cNvSpPr>
          <p:nvPr/>
        </p:nvSpPr>
        <p:spPr>
          <a:xfrm>
            <a:off x="3857502" y="1510673"/>
            <a:ext cx="2086097" cy="48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Tipografía</a:t>
            </a:r>
          </a:p>
        </p:txBody>
      </p:sp>
      <p:sp>
        <p:nvSpPr>
          <p:cNvPr id="3" name="Google Shape;73;p14">
            <a:extLst>
              <a:ext uri="{FF2B5EF4-FFF2-40B4-BE49-F238E27FC236}">
                <a16:creationId xmlns:a16="http://schemas.microsoft.com/office/drawing/2014/main" id="{2ECA47A7-8992-56CB-5054-C83FFE5A57E6}"/>
              </a:ext>
            </a:extLst>
          </p:cNvPr>
          <p:cNvSpPr txBox="1">
            <a:spLocks/>
          </p:cNvSpPr>
          <p:nvPr/>
        </p:nvSpPr>
        <p:spPr>
          <a:xfrm>
            <a:off x="755371" y="2013595"/>
            <a:ext cx="79844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-Elegir un tipo (o tipos) de letra para nuestra aplicación.</a:t>
            </a:r>
          </a:p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-Establecer tamaño para los títulos, párrafos y otros elementos.</a:t>
            </a:r>
          </a:p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-Jerarquía de tipografía: títulos en negrita, párrafos en regular</a:t>
            </a:r>
          </a:p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-Espacio entre líneas y caracteres: line-</a:t>
            </a:r>
            <a:r>
              <a:rPr lang="es-ES" sz="2000" dirty="0" err="1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height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s-ES" sz="2000" dirty="0" err="1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letter-spacing</a:t>
            </a:r>
            <a:endParaRPr lang="es-ES"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76B307-9D1F-351C-3566-432AA517A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28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84832BE6-F765-BEC8-D7A4-600C6ECC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9F9DF149-4C49-56DD-D6A8-7F9DC4EA5C99}"/>
              </a:ext>
            </a:extLst>
          </p:cNvPr>
          <p:cNvSpPr txBox="1"/>
          <p:nvPr/>
        </p:nvSpPr>
        <p:spPr>
          <a:xfrm>
            <a:off x="1230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FE3A4701-C217-FC7C-4153-C2ED82E1B99A}"/>
              </a:ext>
            </a:extLst>
          </p:cNvPr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9D98E451-B20B-014F-DB38-D36520C3F404}"/>
              </a:ext>
            </a:extLst>
          </p:cNvPr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C4AFBB-E4AF-EDFC-E873-A55D4D8CD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B671173-B59D-8532-8ECB-AD842ACB9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745" y="840550"/>
            <a:ext cx="6155100" cy="41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01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230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1835850" y="112662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entury Gothic"/>
                <a:ea typeface="Century Gothic"/>
                <a:cs typeface="Century Gothic"/>
                <a:sym typeface="Century Gothic"/>
              </a:rPr>
              <a:t>¿Qué debe contener?</a:t>
            </a: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3001075" y="4388025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/>
          <p:cNvCxnSpPr/>
          <p:nvPr/>
        </p:nvCxnSpPr>
        <p:spPr>
          <a:xfrm>
            <a:off x="1651800" y="1652350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76;p14"/>
          <p:cNvSpPr txBox="1">
            <a:spLocks noGrp="1"/>
          </p:cNvSpPr>
          <p:nvPr>
            <p:ph type="subTitle" idx="1"/>
          </p:nvPr>
        </p:nvSpPr>
        <p:spPr>
          <a:xfrm>
            <a:off x="4513800" y="4408250"/>
            <a:ext cx="42561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i="1" dirty="0">
                <a:latin typeface="Century Gothic"/>
                <a:ea typeface="Century Gothic"/>
                <a:cs typeface="Century Gothic"/>
                <a:sym typeface="Century Gothic"/>
              </a:rPr>
              <a:t>Desarrollo de interfaces</a:t>
            </a:r>
          </a:p>
        </p:txBody>
      </p:sp>
      <p:sp>
        <p:nvSpPr>
          <p:cNvPr id="7" name="Google Shape;73;p14">
            <a:extLst>
              <a:ext uri="{FF2B5EF4-FFF2-40B4-BE49-F238E27FC236}">
                <a16:creationId xmlns:a16="http://schemas.microsoft.com/office/drawing/2014/main" id="{3F26BC0B-C0E5-372C-053B-3CBF21E25B11}"/>
              </a:ext>
            </a:extLst>
          </p:cNvPr>
          <p:cNvSpPr txBox="1">
            <a:spLocks/>
          </p:cNvSpPr>
          <p:nvPr/>
        </p:nvSpPr>
        <p:spPr>
          <a:xfrm>
            <a:off x="3782808" y="1523687"/>
            <a:ext cx="1461984" cy="48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Tipografía</a:t>
            </a:r>
          </a:p>
        </p:txBody>
      </p:sp>
      <p:sp>
        <p:nvSpPr>
          <p:cNvPr id="3" name="Google Shape;73;p14">
            <a:extLst>
              <a:ext uri="{FF2B5EF4-FFF2-40B4-BE49-F238E27FC236}">
                <a16:creationId xmlns:a16="http://schemas.microsoft.com/office/drawing/2014/main" id="{2ECA47A7-8992-56CB-5054-C83FFE5A57E6}"/>
              </a:ext>
            </a:extLst>
          </p:cNvPr>
          <p:cNvSpPr txBox="1">
            <a:spLocks/>
          </p:cNvSpPr>
          <p:nvPr/>
        </p:nvSpPr>
        <p:spPr>
          <a:xfrm>
            <a:off x="785500" y="2000987"/>
            <a:ext cx="79844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¡Mucho cuidado con el color de letra y el contraste con el fondo! En general, fondos oscuros irán con letras claras y al revés.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6CC4814-4096-FB13-5A98-56D4B35086AC}"/>
              </a:ext>
            </a:extLst>
          </p:cNvPr>
          <p:cNvSpPr/>
          <p:nvPr/>
        </p:nvSpPr>
        <p:spPr>
          <a:xfrm>
            <a:off x="2039257" y="3077028"/>
            <a:ext cx="2474542" cy="11538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E79AE1C-E2A6-3D7C-3D3C-B3370F70EAC0}"/>
              </a:ext>
            </a:extLst>
          </p:cNvPr>
          <p:cNvSpPr/>
          <p:nvPr/>
        </p:nvSpPr>
        <p:spPr>
          <a:xfrm>
            <a:off x="5604078" y="3060175"/>
            <a:ext cx="2570081" cy="1153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65096D-F3B7-9315-ED0A-E7ABF462402C}"/>
              </a:ext>
            </a:extLst>
          </p:cNvPr>
          <p:cNvSpPr txBox="1"/>
          <p:nvPr/>
        </p:nvSpPr>
        <p:spPr>
          <a:xfrm>
            <a:off x="2452841" y="3267779"/>
            <a:ext cx="16473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2060"/>
                </a:solidFill>
              </a:rPr>
              <a:t>¿Crees que podrías leer un texto así?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CB0FF51-1C21-A4D3-B818-5E583D89812A}"/>
              </a:ext>
            </a:extLst>
          </p:cNvPr>
          <p:cNvSpPr txBox="1"/>
          <p:nvPr/>
        </p:nvSpPr>
        <p:spPr>
          <a:xfrm>
            <a:off x="6065431" y="3284635"/>
            <a:ext cx="16473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¿Crees que podrías leer un texto así?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9E39919-8C6D-C994-6F12-4911D4634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60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230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1835850" y="112662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entury Gothic"/>
                <a:ea typeface="Century Gothic"/>
                <a:cs typeface="Century Gothic"/>
                <a:sym typeface="Century Gothic"/>
              </a:rPr>
              <a:t>¿Qué debe contener?</a:t>
            </a: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3001075" y="4388025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/>
          <p:cNvCxnSpPr/>
          <p:nvPr/>
        </p:nvCxnSpPr>
        <p:spPr>
          <a:xfrm>
            <a:off x="1651800" y="1652350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76;p14"/>
          <p:cNvSpPr txBox="1">
            <a:spLocks noGrp="1"/>
          </p:cNvSpPr>
          <p:nvPr>
            <p:ph type="subTitle" idx="1"/>
          </p:nvPr>
        </p:nvSpPr>
        <p:spPr>
          <a:xfrm>
            <a:off x="4513800" y="4408250"/>
            <a:ext cx="42561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i="1" dirty="0">
                <a:latin typeface="Century Gothic"/>
                <a:ea typeface="Century Gothic"/>
                <a:cs typeface="Century Gothic"/>
                <a:sym typeface="Century Gothic"/>
              </a:rPr>
              <a:t>Desarrollo de interfaces</a:t>
            </a:r>
          </a:p>
        </p:txBody>
      </p:sp>
      <p:sp>
        <p:nvSpPr>
          <p:cNvPr id="7" name="Google Shape;73;p14">
            <a:extLst>
              <a:ext uri="{FF2B5EF4-FFF2-40B4-BE49-F238E27FC236}">
                <a16:creationId xmlns:a16="http://schemas.microsoft.com/office/drawing/2014/main" id="{3F26BC0B-C0E5-372C-053B-3CBF21E25B11}"/>
              </a:ext>
            </a:extLst>
          </p:cNvPr>
          <p:cNvSpPr txBox="1">
            <a:spLocks/>
          </p:cNvSpPr>
          <p:nvPr/>
        </p:nvSpPr>
        <p:spPr>
          <a:xfrm>
            <a:off x="3782808" y="1523687"/>
            <a:ext cx="1461984" cy="48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endParaRPr lang="es-ES"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6CC4814-4096-FB13-5A98-56D4B35086AC}"/>
              </a:ext>
            </a:extLst>
          </p:cNvPr>
          <p:cNvSpPr/>
          <p:nvPr/>
        </p:nvSpPr>
        <p:spPr>
          <a:xfrm>
            <a:off x="1065381" y="2376495"/>
            <a:ext cx="2474542" cy="11538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E79AE1C-E2A6-3D7C-3D3C-B3370F70EAC0}"/>
              </a:ext>
            </a:extLst>
          </p:cNvPr>
          <p:cNvSpPr/>
          <p:nvPr/>
        </p:nvSpPr>
        <p:spPr>
          <a:xfrm>
            <a:off x="5415392" y="2374206"/>
            <a:ext cx="2570081" cy="1153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65096D-F3B7-9315-ED0A-E7ABF462402C}"/>
              </a:ext>
            </a:extLst>
          </p:cNvPr>
          <p:cNvSpPr txBox="1"/>
          <p:nvPr/>
        </p:nvSpPr>
        <p:spPr>
          <a:xfrm>
            <a:off x="1651800" y="2815919"/>
            <a:ext cx="1647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85000"/>
                  </a:schemeClr>
                </a:solidFill>
              </a:rPr>
              <a:t>¿Mejor así?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CB0FF51-1C21-A4D3-B818-5E583D89812A}"/>
              </a:ext>
            </a:extLst>
          </p:cNvPr>
          <p:cNvSpPr txBox="1"/>
          <p:nvPr/>
        </p:nvSpPr>
        <p:spPr>
          <a:xfrm>
            <a:off x="6232346" y="2797253"/>
            <a:ext cx="807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¿Y así?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F4ACAD-5604-BDF4-4320-BE5AEF420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46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230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1835850" y="112662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entury Gothic"/>
                <a:ea typeface="Century Gothic"/>
                <a:cs typeface="Century Gothic"/>
                <a:sym typeface="Century Gothic"/>
              </a:rPr>
              <a:t>¿Qué debe contener?</a:t>
            </a: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3001075" y="4388025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/>
          <p:cNvCxnSpPr/>
          <p:nvPr/>
        </p:nvCxnSpPr>
        <p:spPr>
          <a:xfrm>
            <a:off x="1651800" y="1652350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76;p14"/>
          <p:cNvSpPr txBox="1">
            <a:spLocks noGrp="1"/>
          </p:cNvSpPr>
          <p:nvPr>
            <p:ph type="subTitle" idx="1"/>
          </p:nvPr>
        </p:nvSpPr>
        <p:spPr>
          <a:xfrm>
            <a:off x="4513800" y="4408250"/>
            <a:ext cx="42561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i="1" dirty="0">
                <a:latin typeface="Century Gothic"/>
                <a:ea typeface="Century Gothic"/>
                <a:cs typeface="Century Gothic"/>
                <a:sym typeface="Century Gothic"/>
              </a:rPr>
              <a:t>Desarrollo de interfaces</a:t>
            </a:r>
          </a:p>
        </p:txBody>
      </p:sp>
      <p:sp>
        <p:nvSpPr>
          <p:cNvPr id="7" name="Google Shape;73;p14">
            <a:extLst>
              <a:ext uri="{FF2B5EF4-FFF2-40B4-BE49-F238E27FC236}">
                <a16:creationId xmlns:a16="http://schemas.microsoft.com/office/drawing/2014/main" id="{3F26BC0B-C0E5-372C-053B-3CBF21E25B11}"/>
              </a:ext>
            </a:extLst>
          </p:cNvPr>
          <p:cNvSpPr txBox="1">
            <a:spLocks/>
          </p:cNvSpPr>
          <p:nvPr/>
        </p:nvSpPr>
        <p:spPr>
          <a:xfrm>
            <a:off x="3857502" y="1510673"/>
            <a:ext cx="2086097" cy="48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Tipografía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20E494-EF60-796A-2F05-43B4BCB79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37" y="2091985"/>
            <a:ext cx="3262753" cy="133338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A610391-068F-9ACF-816D-8CDB5261D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450" y="2067989"/>
            <a:ext cx="3371850" cy="1362075"/>
          </a:xfrm>
          <a:prstGeom prst="rect">
            <a:avLst/>
          </a:prstGeom>
        </p:spPr>
      </p:pic>
      <p:sp>
        <p:nvSpPr>
          <p:cNvPr id="9" name="Google Shape;73;p14">
            <a:extLst>
              <a:ext uri="{FF2B5EF4-FFF2-40B4-BE49-F238E27FC236}">
                <a16:creationId xmlns:a16="http://schemas.microsoft.com/office/drawing/2014/main" id="{E57230FB-FA9E-D62E-6FC8-BABB7688707D}"/>
              </a:ext>
            </a:extLst>
          </p:cNvPr>
          <p:cNvSpPr txBox="1">
            <a:spLocks/>
          </p:cNvSpPr>
          <p:nvPr/>
        </p:nvSpPr>
        <p:spPr>
          <a:xfrm>
            <a:off x="3470751" y="3623655"/>
            <a:ext cx="2086097" cy="48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Google </a:t>
            </a:r>
            <a:r>
              <a:rPr lang="es-ES" sz="2000" dirty="0" err="1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fonts</a:t>
            </a:r>
            <a:endParaRPr lang="es-ES"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C7B8EC-36EB-8F9E-0188-7F0AE9D5F0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628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1835850" y="112662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entury Gothic"/>
                <a:ea typeface="Century Gothic"/>
                <a:cs typeface="Century Gothic"/>
                <a:sym typeface="Century Gothic"/>
              </a:rPr>
              <a:t>¿Qué debe contener?</a:t>
            </a: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3001075" y="4388025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/>
          <p:cNvCxnSpPr/>
          <p:nvPr/>
        </p:nvCxnSpPr>
        <p:spPr>
          <a:xfrm>
            <a:off x="1651800" y="1652350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76;p14"/>
          <p:cNvSpPr txBox="1">
            <a:spLocks noGrp="1"/>
          </p:cNvSpPr>
          <p:nvPr>
            <p:ph type="subTitle" idx="1"/>
          </p:nvPr>
        </p:nvSpPr>
        <p:spPr>
          <a:xfrm>
            <a:off x="4513800" y="4408250"/>
            <a:ext cx="42561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i="1" dirty="0">
                <a:latin typeface="Century Gothic"/>
                <a:ea typeface="Century Gothic"/>
                <a:cs typeface="Century Gothic"/>
                <a:sym typeface="Century Gothic"/>
              </a:rPr>
              <a:t>Desarrollo de interfaces</a:t>
            </a:r>
          </a:p>
        </p:txBody>
      </p:sp>
      <p:sp>
        <p:nvSpPr>
          <p:cNvPr id="7" name="Google Shape;73;p14">
            <a:extLst>
              <a:ext uri="{FF2B5EF4-FFF2-40B4-BE49-F238E27FC236}">
                <a16:creationId xmlns:a16="http://schemas.microsoft.com/office/drawing/2014/main" id="{3F26BC0B-C0E5-372C-053B-3CBF21E25B11}"/>
              </a:ext>
            </a:extLst>
          </p:cNvPr>
          <p:cNvSpPr txBox="1">
            <a:spLocks/>
          </p:cNvSpPr>
          <p:nvPr/>
        </p:nvSpPr>
        <p:spPr>
          <a:xfrm>
            <a:off x="3570514" y="1550127"/>
            <a:ext cx="3164113" cy="48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Iconografía </a:t>
            </a:r>
          </a:p>
        </p:txBody>
      </p:sp>
      <p:sp>
        <p:nvSpPr>
          <p:cNvPr id="3" name="Google Shape;73;p14">
            <a:extLst>
              <a:ext uri="{FF2B5EF4-FFF2-40B4-BE49-F238E27FC236}">
                <a16:creationId xmlns:a16="http://schemas.microsoft.com/office/drawing/2014/main" id="{5B911606-7031-6043-838E-5649403415FB}"/>
              </a:ext>
            </a:extLst>
          </p:cNvPr>
          <p:cNvSpPr txBox="1">
            <a:spLocks/>
          </p:cNvSpPr>
          <p:nvPr/>
        </p:nvSpPr>
        <p:spPr>
          <a:xfrm>
            <a:off x="667658" y="2031637"/>
            <a:ext cx="7663542" cy="2208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Iconos y su estilo: Definir su relleno, su contorno y su color (si se quisiera).</a:t>
            </a:r>
          </a:p>
          <a:p>
            <a:pPr marL="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Tamaño de los iconos.</a:t>
            </a:r>
          </a:p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Font </a:t>
            </a:r>
            <a:r>
              <a:rPr lang="es-ES" sz="2000" dirty="0" err="1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Awesome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    </a:t>
            </a:r>
            <a:r>
              <a:rPr lang="es-ES" sz="2000" dirty="0" err="1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/>
              </a:rPr>
              <a:t>SVGRepo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Google </a:t>
            </a:r>
            <a:r>
              <a:rPr lang="es-ES" sz="2000" dirty="0" err="1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fonts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712EE7-24F0-1B77-665C-0509148807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08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1835850" y="112662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entury Gothic"/>
                <a:ea typeface="Century Gothic"/>
                <a:cs typeface="Century Gothic"/>
                <a:sym typeface="Century Gothic"/>
              </a:rPr>
              <a:t>¿Qué debe contener?</a:t>
            </a: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3001075" y="4388025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/>
          <p:cNvCxnSpPr/>
          <p:nvPr/>
        </p:nvCxnSpPr>
        <p:spPr>
          <a:xfrm>
            <a:off x="1651800" y="1652350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76;p14"/>
          <p:cNvSpPr txBox="1">
            <a:spLocks noGrp="1"/>
          </p:cNvSpPr>
          <p:nvPr>
            <p:ph type="subTitle" idx="1"/>
          </p:nvPr>
        </p:nvSpPr>
        <p:spPr>
          <a:xfrm>
            <a:off x="4513800" y="4408250"/>
            <a:ext cx="42561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i="1" dirty="0">
                <a:latin typeface="Century Gothic"/>
                <a:ea typeface="Century Gothic"/>
                <a:cs typeface="Century Gothic"/>
                <a:sym typeface="Century Gothic"/>
              </a:rPr>
              <a:t>Desarrollo de interfaces</a:t>
            </a:r>
          </a:p>
        </p:txBody>
      </p:sp>
      <p:sp>
        <p:nvSpPr>
          <p:cNvPr id="7" name="Google Shape;73;p14">
            <a:extLst>
              <a:ext uri="{FF2B5EF4-FFF2-40B4-BE49-F238E27FC236}">
                <a16:creationId xmlns:a16="http://schemas.microsoft.com/office/drawing/2014/main" id="{3F26BC0B-C0E5-372C-053B-3CBF21E25B11}"/>
              </a:ext>
            </a:extLst>
          </p:cNvPr>
          <p:cNvSpPr txBox="1">
            <a:spLocks/>
          </p:cNvSpPr>
          <p:nvPr/>
        </p:nvSpPr>
        <p:spPr>
          <a:xfrm>
            <a:off x="3570514" y="1550127"/>
            <a:ext cx="1465943" cy="48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Imágenes </a:t>
            </a:r>
          </a:p>
        </p:txBody>
      </p:sp>
      <p:sp>
        <p:nvSpPr>
          <p:cNvPr id="3" name="Google Shape;73;p14">
            <a:extLst>
              <a:ext uri="{FF2B5EF4-FFF2-40B4-BE49-F238E27FC236}">
                <a16:creationId xmlns:a16="http://schemas.microsoft.com/office/drawing/2014/main" id="{5B911606-7031-6043-838E-5649403415FB}"/>
              </a:ext>
            </a:extLst>
          </p:cNvPr>
          <p:cNvSpPr txBox="1">
            <a:spLocks/>
          </p:cNvSpPr>
          <p:nvPr/>
        </p:nvSpPr>
        <p:spPr>
          <a:xfrm>
            <a:off x="667658" y="2031637"/>
            <a:ext cx="4020456" cy="2208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F082542-85C6-AA7B-B19B-75B7DFBCD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58" y="2251754"/>
            <a:ext cx="3762375" cy="1719263"/>
          </a:xfrm>
          <a:prstGeom prst="rect">
            <a:avLst/>
          </a:prstGeom>
        </p:spPr>
      </p:pic>
      <p:sp>
        <p:nvSpPr>
          <p:cNvPr id="6" name="Google Shape;73;p14">
            <a:extLst>
              <a:ext uri="{FF2B5EF4-FFF2-40B4-BE49-F238E27FC236}">
                <a16:creationId xmlns:a16="http://schemas.microsoft.com/office/drawing/2014/main" id="{F721D765-25C1-16D1-7939-0E1AB228D675}"/>
              </a:ext>
            </a:extLst>
          </p:cNvPr>
          <p:cNvSpPr txBox="1">
            <a:spLocks/>
          </p:cNvSpPr>
          <p:nvPr/>
        </p:nvSpPr>
        <p:spPr>
          <a:xfrm>
            <a:off x="4766690" y="1985474"/>
            <a:ext cx="4020456" cy="1422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-Añadir imágenes que vayan con la armonía de nuestra guía.</a:t>
            </a:r>
          </a:p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</p:txBody>
      </p:sp>
      <p:sp>
        <p:nvSpPr>
          <p:cNvPr id="8" name="Google Shape;73;p14">
            <a:extLst>
              <a:ext uri="{FF2B5EF4-FFF2-40B4-BE49-F238E27FC236}">
                <a16:creationId xmlns:a16="http://schemas.microsoft.com/office/drawing/2014/main" id="{C732CC07-5382-C650-38A8-951AA05624B3}"/>
              </a:ext>
            </a:extLst>
          </p:cNvPr>
          <p:cNvSpPr txBox="1">
            <a:spLocks/>
          </p:cNvSpPr>
          <p:nvPr/>
        </p:nvSpPr>
        <p:spPr>
          <a:xfrm>
            <a:off x="4570829" y="3548605"/>
            <a:ext cx="1155057" cy="5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/>
              </a:rPr>
              <a:t>Google</a:t>
            </a:r>
            <a:endParaRPr lang="es-ES"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" name="Google Shape;73;p14">
            <a:extLst>
              <a:ext uri="{FF2B5EF4-FFF2-40B4-BE49-F238E27FC236}">
                <a16:creationId xmlns:a16="http://schemas.microsoft.com/office/drawing/2014/main" id="{E55E76A8-7635-7F21-FE09-952716452C0E}"/>
              </a:ext>
            </a:extLst>
          </p:cNvPr>
          <p:cNvSpPr txBox="1">
            <a:spLocks/>
          </p:cNvSpPr>
          <p:nvPr/>
        </p:nvSpPr>
        <p:spPr>
          <a:xfrm>
            <a:off x="5949011" y="3556546"/>
            <a:ext cx="1155057" cy="5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 err="1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Freepik</a:t>
            </a:r>
            <a:endParaRPr lang="es-ES"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" name="Google Shape;73;p14">
            <a:extLst>
              <a:ext uri="{FF2B5EF4-FFF2-40B4-BE49-F238E27FC236}">
                <a16:creationId xmlns:a16="http://schemas.microsoft.com/office/drawing/2014/main" id="{BC084A1F-203E-C31D-A88F-9C7B22AB9AAD}"/>
              </a:ext>
            </a:extLst>
          </p:cNvPr>
          <p:cNvSpPr txBox="1">
            <a:spLocks/>
          </p:cNvSpPr>
          <p:nvPr/>
        </p:nvSpPr>
        <p:spPr>
          <a:xfrm>
            <a:off x="7327193" y="3548605"/>
            <a:ext cx="1264092" cy="5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s-ES" sz="2000" dirty="0" err="1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  <a:hlinkClick r:id="rId6"/>
              </a:rPr>
              <a:t>Pixabay</a:t>
            </a:r>
            <a:endParaRPr lang="es-ES"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34DC95-E819-5F6D-E898-FB9BF078A4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3558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4210</TotalTime>
  <Words>457</Words>
  <Application>Microsoft Office PowerPoint</Application>
  <PresentationFormat>Presentación en pantalla (16:9)</PresentationFormat>
  <Paragraphs>92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Simple Light</vt:lpstr>
      <vt:lpstr>Accesibilidad y diseño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SANZ MOYA, JUAN</cp:lastModifiedBy>
  <cp:revision>58</cp:revision>
  <dcterms:modified xsi:type="dcterms:W3CDTF">2026-09-15T10:13:37Z</dcterms:modified>
</cp:coreProperties>
</file>