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[KEVIN]: Buenos días a todos y al profesor. Mi compañera Rocío Gómez y yo, Kevin Muñoz, vamos a presentar hoy el análisis de sostenibilidad correspondiente a la Tarea 1 de SASP.</a:t>
            </a:r>
          </a:p>
          <a:p>
            <a:r>
              <a:t>Hemos elegido analizar a fondo una de las mayores consultoras y compañías tecnológicas del mundo y de nuestro entorno: NTT DATA.</a:t>
            </a:r>
          </a:p>
          <a:p>
            <a:r>
              <a:t>A lo largo de los próximos 8 minutos analizaremos cómo aplica los criterios ESG, sus luces y sus sombras, su impacto en los ODS y cómo nos afecta directamente como futuros desarrolladores de DAM.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[ROCÍO]: Gracias, Kevin. Para que la presentación sea ágil y clara, hemos organizado el contenido en tres grandes bloques que responden a los 11 puntos requeridos en la práctica:</a:t>
            </a:r>
          </a:p>
          <a:p>
            <a:r>
              <a:t>Primero, Kevin explicará el perfil de NTT DATA y las medidas ambientales y de gobernanza que aplica.</a:t>
            </a:r>
          </a:p>
          <a:p>
            <a:r>
              <a:t>Segundo, abordaremos la parte crítica: los puntos negativos que muchas veces se ocultan, el marco de RSC y el análisis de inversión socialmente responsable (ISR).</a:t>
            </a:r>
          </a:p>
          <a:p>
            <a:r>
              <a:t>Y en tercer lugar, revisaremos los KPIs cuantitativos, su alineación con los ODS y el papel que tenemos nosotros como programadores en la sostenibilidad.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[KEVIN]: Comenzamos con la elección y el análisis de la empresa. ¿Por qué NTT DATA?</a:t>
            </a:r>
          </a:p>
          <a:p>
            <a:r>
              <a:t>NTT DATA es el sexto proveedor de servicios de TI más grande del mundo, perteneciente al gigante japonés Nippon Telegraph and Telephone.</a:t>
            </a:r>
          </a:p>
          <a:p>
            <a:r>
              <a:t>En España todos la conocemos muy bien porque absorbió a la histórica Everis. Hablamos de una plantilla colosal: más de 190.000 empleados en el mundo y más de 21.000 solo en España, repartidos en 30 oficinas.</a:t>
            </a:r>
          </a:p>
          <a:p>
            <a:r>
              <a:t>Su negocio principal no es fabricar ordenadores, sino prestar servicios tecnológicos a otras empresas: administración pública, bancos como Santander o BBVA, telecomunicaciones y hospitales.</a:t>
            </a:r>
          </a:p>
          <a:p>
            <a:r>
              <a:t>Para nosotros en 2º DAM es una empresa clave porque es uno de los principales reclutadores de graduados en desarrollo de software, y su huella en el sector marca los estándares de cómo trabajaremos mañana.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[KEVIN]: Pasamos a las medidas medioambientales. En una consultora de software, la fábrica no tiene chimeneas, pero consume ingentes cantidades de electricidad.</a:t>
            </a:r>
          </a:p>
          <a:p>
            <a:r>
              <a:t>NTT DATA aborda esto en cuatro ejes:</a:t>
            </a:r>
          </a:p>
          <a:p>
            <a:r>
              <a:t>1. Energía verde: Más del 87% de la electricidad de sus oficinas procede de fuentes renovables certificadas con Garantía de Origen.</a:t>
            </a:r>
          </a:p>
          <a:p>
            <a:r>
              <a:t>2. Hoja de ruta Net-Zero: Cero emisiones netas directas para 2030, y en toda su cadena para 2040, apoyándose en proyectos de reforestación para compensar emisiones inevitables.</a:t>
            </a:r>
          </a:p>
          <a:p>
            <a:r>
              <a:t>3. e-Waste o chatarra electrónica: Reacondicionan más de 1.500 ordenadores al año que donan a ONGs y centros educativos en lugar de destruirlos. Además, aplican campañas de limpieza digital para borrar terabytes innecesarios en la nube.</a:t>
            </a:r>
          </a:p>
          <a:p>
            <a:r>
              <a:t>4. Green IT: Aquí entramos nosotros como desarrolladores: optimizan el código y las consultas para que los algoritmos consuman menos CPU y memoria, reduciendo directamente el gasto energético en servidores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[ROCÍO]: En el pilar Social, el activo más valioso de una tecnológica son sus personas. En NTT DATA destacan tres áreas esenciales:</a:t>
            </a:r>
          </a:p>
          <a:p>
            <a:r>
              <a:t>Primero, el programa 'Teaming', una iniciativa donde los empleados pueden donar microcantidades mensuales de su nómina a causas solidarias, y la empresa iguala o apoya los proyectos, fomentando la cohesión.</a:t>
            </a:r>
          </a:p>
          <a:p>
            <a:r>
              <a:t>Segundo, las políticas de personas: en un sector con alto riesgo de agotamiento o 'burnout', han instaurado modelos de trabajo híbrido flexible, derecho a la desconexión digital y planes formativos continuos.</a:t>
            </a:r>
          </a:p>
          <a:p>
            <a:r>
              <a:t>Y tercero, la Diversidad e Inclusión (DE&amp;I): en informática sigue habiendo una enorme brecha de género; NTT DATA promueve activamente programas de atracción de talento femenino en tecnología y convenios de no discriminación e inclusión de personas con capacidades diversas.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[KEVIN]: Llegamos a la Gobernanza corporativa, la 'G' de ESG, que define cómo se gobierna y controla la empresa.</a:t>
            </a:r>
          </a:p>
          <a:p>
            <a:r>
              <a:t>En NTT DATA destacan cuatro pilares:</a:t>
            </a:r>
          </a:p>
          <a:p>
            <a:r>
              <a:t>1. Su Canal de Denuncias independiente, con garantía de investigación y resolución del 100% de los casos.</a:t>
            </a:r>
          </a:p>
          <a:p>
            <a:r>
              <a:t>2. Un Código de Conducta muy riguroso contra sobornos y conflictos de interés, algo vital cuando se concurre a licitaciones con el Estado.</a:t>
            </a:r>
          </a:p>
          <a:p>
            <a:r>
              <a:t>3. Un tema que nos toca muy de cerca a los informáticos: Ética en IA y privacidad. Cuentan con un marco propio para evitar sesgos discriminatorios en algoritmos de aprendizaje automático y garantizar el cumplimiento estricto del RGPD europeo.</a:t>
            </a:r>
          </a:p>
          <a:p>
            <a:r>
              <a:t>4. Por último, la homologación sostenible: evalúan ya a más del 35% de sus proveedores con criterios ESG, porque la gobernanza no acaba dentro de sus oficinas.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[ROCÍO]: Ningún análisis de sostenibilidad es riguroso si solo aplaudimos las memorias corporativas. Aquí está el espíritu crítico del trabajo:</a:t>
            </a:r>
          </a:p>
          <a:p>
            <a:r>
              <a:t>1. En lo ambiental: la paradoja de la nube. NTT DATA puede tener oficinas con placas solares, pero sus soluciones corren en centros de datos de Amazon AWS, Google o Microsoft. Esas emisiones indirectas (Alcance 3) y el descomunal consumo de agua para refrigerar servidores son el verdadero impacto y quedan fuera de su control directo.</a:t>
            </a:r>
          </a:p>
          <a:p>
            <a:r>
              <a:t>2. En gobernanza: el escándalo del cártel de consultoras. La Comisión Nacional de los Mercados y la Competencia (CNMC) sancionó gravemente a varias consultoras, entre ellas Everis (su filial), por amañar y repartirse contratos públicos informáticos en España. Aunque hoy han endurecido el cumplimiento, es un precedente real de mala praxis.</a:t>
            </a:r>
          </a:p>
          <a:p>
            <a:r>
              <a:t>3. En lo social y datos ESG: casi un 30% de los datos de sostenibilidad del sector carecen de precisión estadística sólida o dependen de reportes manuales, lo que genera dudas fundadas sobre si hay maquillaje verde o greenwashing.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[ROCÍO]: Para estructurar su Responsabilidad Social Corporativa, NTT DATA utiliza el modelo de las 'Tres P': Planet Positive, Prosperity Positive y People Positive.</a:t>
            </a:r>
          </a:p>
          <a:p>
            <a:r>
              <a:t>- En Planet Positive: van más allá de no contaminar; desarrollan productos de software como 'Syntphony Beyond Net Zero', que ayuda a otras compañías a auditar y reducir su huella de carbono.</a:t>
            </a:r>
          </a:p>
          <a:p>
            <a:r>
              <a:t>- En Prosperity Positive: aplican la digitalización con propósito para generar desarrollo económico limpio y eficiente en sus clientes.</a:t>
            </a:r>
          </a:p>
          <a:p>
            <a:r>
              <a:t>- Y en People Positive: devuelven parte del valor a la sociedad, mediante programas de alfabetización digital para colectivos en riesgo de exclusión y formación tecnológica para estudiantes.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[KEVIN]: En el punto 8, el enunciado nos hace una pregunta directa: 'ISR: ¿Deberíamos invertir en esta empresa?'</a:t>
            </a:r>
          </a:p>
          <a:p>
            <a:r>
              <a:t>La Inversión Socialmente Responsable combina criterios de rentabilidad económica con métricas ESG.</a:t>
            </a:r>
          </a:p>
          <a:p>
            <a:r>
              <a:t>Analizando sus fortalezas: NTT DATA tiene ingresos recurrentes, contratos plurianuales y un catalizador brutal como la explosión de la Inteligencia Artificial y la computación en la nube.</a:t>
            </a:r>
          </a:p>
          <a:p>
            <a:r>
              <a:t>¿Qué debemos vigilar? Que los márgenes de la consultoría tradicional están bajo presión y que para invertir hay que hacerlo vía la matriz NTT Group en la Bolsa de Tokio.</a:t>
            </a:r>
          </a:p>
          <a:p>
            <a:r>
              <a:t>Nuestro veredicto: SÍ cumple los requisitos para fondos de inversión ESG por solvencia y políticas verdes, pero bajo una condición: exigir auditorías externas rigurosas sobre su huella cloud indirecta y el cumplimiento en concursos públicos.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[ROCÍO]: En sostenibilidad, lo que no se mide no existe. El punto 9 evalúa los KPIs y si existen mejoras contrastables. Y los datos avalan una trayectoria positiva:</a:t>
            </a:r>
          </a:p>
          <a:p>
            <a:r>
              <a:t>- Electricidad renovable: Han pasado del 87% inicial a rozar el 99.6% de electricidad certificada con Garantía de Origen.</a:t>
            </a:r>
          </a:p>
          <a:p>
            <a:r>
              <a:t>- Huella de carbono: Se compensaron 2.977 toneladas de CO2 equivalente mediante programas certificados de reforestación.</a:t>
            </a:r>
          </a:p>
          <a:p>
            <a:r>
              <a:t>- Instalaciones sostenibles: Más de la mitad de sus oficinas, el 51%, cuentan con sellos internacionales tan exigentes como LEED, BREEAM o WELL en eficiencia energética y bienestar.</a:t>
            </a:r>
          </a:p>
          <a:p>
            <a:r>
              <a:t>- Diversidad: La cuota de mujeres en puestos directivos ha subido hasta el 33%, un avance relevante en un sector donde históricamente no superaba el 15%.</a:t>
            </a:r>
          </a:p>
          <a:p>
            <a:r>
              <a:t>- Y en clima interno: un 96% de satisfacción de los empleados con el impacto social de la 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[ROCÍO]: El punto 10 conecta toda esta estrategia con los Objetivos de Desarrollo Sostenible de la ONU. En NTT DATA los más representativos son:</a:t>
            </a:r>
          </a:p>
          <a:p>
            <a:r>
              <a:t>- ODS 4, Educación: donde destaca especialmente su vinculación directa con nosotros, los estudiantes de Formación Profesional de DAM y DAW, a través de programas de cantera y becas.</a:t>
            </a:r>
          </a:p>
          <a:p>
            <a:r>
              <a:t>- ODS 5, Igualdad: rompiendo estereotipos en un sector masculinizado.</a:t>
            </a:r>
          </a:p>
          <a:p>
            <a:r>
              <a:t>- ODS 8, Empleo decente: creando miles de puestos fijos de alto valor añadido en España.</a:t>
            </a:r>
          </a:p>
          <a:p>
            <a:r>
              <a:t>- ODS 9, Industria e innovación: digitalizando a pymes y administraciones.</a:t>
            </a:r>
          </a:p>
          <a:p>
            <a:r>
              <a:t>- Y ODS 12 y 13: producción responsable y acción climática, reduciendo residuos electrónicos y descarbonizando el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[KEVIN &amp; ROCÍO]: Para concluir:</a:t>
            </a:r>
          </a:p>
          <a:p>
            <a:r>
              <a:t>[KEVIN]: NTT DATA es un ejemplo excelente de cómo una empresa de servicios intangibles genera un impacto masivo en las tres dimensiones ESG. Tiene una base sólida y reconocible, aunque con desafíos ineludibles en la medición de emisiones cloud y en garantizar una gobernanza intachable.</a:t>
            </a:r>
          </a:p>
          <a:p>
            <a:r>
              <a:t>[ROCÍO]: Y la lección más importante que nos llevamos nosotros como alumnos de 2º DAM es que el software no es inocuo: cada algoritmo mal optimizado, cada bucle ineficiente o cada llamada innecesaria a una API en la nube quema vatios y genera calor en un centro de datos. La sostenibilidad aplicada empieza en nuestro propio código.</a:t>
            </a:r>
          </a:p>
          <a:p>
            <a:r>
              <a:t>Muchas gracias por vuestra atención, y quedamos a vuestra disposición para cualquier pregunta.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64592" cy="3291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Segoe UI"/>
              </a:defRPr>
            </a:pPr>
            <a:r>
              <a:t>ASIGNATURA: SOSTENIBILIDAD APLICADA AL SECTOR PRODUCTIVO (SASP) | 2º DAM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Análisis de Sostenibilidad y Estrategia ESG</a:t>
            </a:r>
          </a:p>
          <a:p>
            <a:pPr>
              <a:defRPr sz="3000" b="1">
                <a:solidFill>
                  <a:srgbClr val="10B981"/>
                </a:solidFill>
                <a:latin typeface="Segoe UI"/>
              </a:defRPr>
            </a:pPr>
            <a:r>
              <a:t>Caso de Estudio: NTT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9966960" cy="1554480"/>
          </a:xfrm>
          <a:prstGeom prst="roundRect">
            <a:avLst/>
          </a:prstGeom>
          <a:solidFill>
            <a:srgbClr val="0F2240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👥 Equipo de Trabajo: Kevin Muñoz Córcoles &amp; Rocío Gómez Martínez</a:t>
            </a:r>
          </a:p>
          <a:p>
            <a:pPr>
              <a:defRPr sz="1300">
                <a:solidFill>
                  <a:srgbClr val="CBD5E1"/>
                </a:solidFill>
                <a:latin typeface="Segoe UI"/>
              </a:defRPr>
            </a:pPr>
            <a:r>
              <a:t>⏱️ Tiempo estimado: 8 - 10 minutos | Modalidad: Presentación de Caso de Empresa Tecnológica (Tarea 1)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📅 Curso Académico 2026/2027 | Ciclo Formativo de Grado Superior en Desarrollo de Aplicaciones Multiplataforma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ESTRUCTURA DEL ANÁLISIS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Kevin &amp; Rocío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Índice de Contenidos: De la Teoría a la Práctica en 2º DAM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29000" cy="10058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BLOQUE 01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Perfil &amp; Huella ESG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PUNTOS 1 AL 5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Elección de empresa y justificación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Análisis operativo y magnitudes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Sostenibilidad Ambiental (E)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Sostenibilidad Social (S)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Gobernanza y Cumplimiento (G)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29000" cy="10058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BLOQUE 02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Espíritu Crítico &amp; Estrategia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7889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PUNTOS 6 AL 8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Sombras: Alcance 3, Cártel CNMC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Fiabilidad de datos y escepticismo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Marco RSC 3P (Planet, Prosperity, People)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ISR: ¿Invertiríamos en NTT DATA?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Matriz de fortalezas y riesgos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29000" cy="10058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BLOQUE 03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Impacto Medible &amp; Futuro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788920"/>
            <a:ext cx="3063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Segoe UI"/>
              </a:defRPr>
            </a:pPr>
            <a:r>
              <a:t>PUNTOS 9 AL 11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KPIs clave (99.6% renovable, 33% mujeres)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Alineación con los ODS (Foco ODS 4/DAM)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Conclusiones globales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El rol del desarrollador de software verde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Turno de preguntas y debate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PUNTOS 1 &amp; 2: ELECCIÓN Y ANÁLISIS PREVIO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Kevin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NTT DATA: Dimensión de un Gigante Tecnológico y Consultor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2900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🏢 Identidad y Negocio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D62"/>
                </a:solidFill>
                <a:latin typeface="Segoe UI"/>
              </a:defRPr>
            </a:pPr>
            <a:r>
              <a:t>Razón Social: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NTT DATA Corporation (Grupo NTT)</a:t>
            </a:r>
          </a:p>
          <a:p>
            <a:pPr>
              <a:spcBef>
                <a:spcPts val="800"/>
              </a:spcBef>
              <a:defRPr sz="1100" b="1">
                <a:solidFill>
                  <a:srgbClr val="002D62"/>
                </a:solidFill>
                <a:latin typeface="Segoe UI"/>
              </a:defRPr>
            </a:pPr>
            <a:r>
              <a:t>Actividad: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Servicios TI a terceros, consultoría estratégica y desarrollo de software</a:t>
            </a:r>
          </a:p>
          <a:p>
            <a:pPr>
              <a:spcBef>
                <a:spcPts val="800"/>
              </a:spcBef>
              <a:defRPr sz="1100" b="1">
                <a:solidFill>
                  <a:srgbClr val="002D62"/>
                </a:solidFill>
                <a:latin typeface="Segoe UI"/>
              </a:defRPr>
            </a:pPr>
            <a:r>
              <a:t>Servicios Clave: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Transformación digital, infraestructuras Cloud, IA y ciberseguridad</a:t>
            </a:r>
          </a:p>
          <a:p>
            <a:pPr>
              <a:spcBef>
                <a:spcPts val="800"/>
              </a:spcBef>
              <a:defRPr sz="1100" b="1">
                <a:solidFill>
                  <a:srgbClr val="002D62"/>
                </a:solidFill>
                <a:latin typeface="Segoe UI"/>
              </a:defRPr>
            </a:pPr>
            <a:r>
              <a:t>Presencia Nacional: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Herencia directa de la integración de Everis en España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2900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👥 Escala y Fuerza Laboral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2316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Plantilla Global: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~190.000 empleados en más de 50 países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Presencia en España: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+21.000 profesionales distribuidos en 30 centros de trabajo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Relevancia Local: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Uno de los mayores empleadores privados del sector tecnológico en España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Segoe UI"/>
              </a:defRPr>
            </a:pPr>
            <a:r>
              <a:t>Entorno Laboral: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Demanda intensiva de perfiles técnicos (especialmente DAM y DAW)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2900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🎯 ¿Por qué esta Elección?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23160"/>
            <a:ext cx="3063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Impacto Masivo: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Gestiona plataformas críticas para banca, sanidad y administraciones públicas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  <a:latin typeface="Segoe UI"/>
              </a:defRPr>
            </a:pPr>
            <a:r>
              <a:t>Efecto Arrastre: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Sus políticas de sostenibilidad obligan a miles de clientes y proveedores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  <a:latin typeface="Segoe UI"/>
              </a:defRPr>
            </a:pPr>
            <a:r>
              <a:t>Proximidad Profesional: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Destino habitual de prácticas formativas FCT para alumnos de nuestro ciclo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  <a:latin typeface="Segoe UI"/>
              </a:defRPr>
            </a:pPr>
            <a:r>
              <a:t>Dualidad Retadora: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Combina ambición ecológica con los retos de operar miles de servidores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3: SOSTENIBILIDAD AMBIENTAL (E)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Kevin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Estrategia Climática: Energía Verde, Net-Zero y Green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64592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⚡ Energía Verde Certificada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INDICADOR CLAVE: 87%+ Renovable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Más del 87% de la electricidad consumida en sus sedes cuenta con certificación de Garantía de Origen Renovable (GdO), avanzando hacia el 100% en instalaciones operativas.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164592" cy="22402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D62"/>
                </a:solidFill>
                <a:latin typeface="Segoe UI"/>
              </a:defRPr>
            </a:pPr>
            <a:r>
              <a:t>🌱 Neutralidad de Carbono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INDICADOR CLAVE: Net-Zero 2030 / 2040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Compromiso de cero emisiones netas directas para 2030 y en toda la cadena de valor para 2040 (Grupo NTT), combinando descarbonización y reforestación.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69080"/>
            <a:ext cx="164592" cy="2240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💻 Gestión de e-Waste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INDICADOR CLAVE: +1.500 Equipos/Año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Reacondicionamiento y donación de hardware informático obsoleto para reducir la brecha digital, sumado a campañas periódicas de limpieza de basura digital en la nube.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069080"/>
            <a:ext cx="164592" cy="2240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🌿 Green IT &amp; Green Cloud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INDICADOR CLAVE: Ecodiseño Software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Diseño de código energéticamente eficiente y optimización de cargas de trabajo cloud para minimizar la huella de carbono computacional de sus clientes.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4: SOSTENIBILIDAD SOCIAL (S)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Rocío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El Factor Humano: Cultura Colaborativa, Conciliación y DE&amp;I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29000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🤝 Programa 'Teaming' y Solidaridad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• Fomento de microdonaciones voluntarias entre profesionales que la compañía complementa.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Cohesión de equipos mediante voluntariado corporativo y proyectos sociales de impacto local.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Cultura participativa donde los propios trabajadores eligen las causas apoyadas.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29000" cy="6858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⚖️ Gestión de Personas y Flexibilidad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688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• Modelo híbrido de trabajo flexible y políticas avanzadas de conciliación laboral y familiar.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Desconexión digital garantizada e integración directa del bienestar en la estrategia ESG.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Formación continua en competencias digitales punteras (Cloud, IA, metodologías ágiles).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2900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🌈 Diversidad, Equidad e Inclusión (DE&amp;I)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• Políticas activas de no discriminación e igualdad de oportunidades en contratación y ascensos.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Iniciativas específicas para cerrar la brecha de género y visibilizar referentes femeninos en STEM.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• Integración laboral de personas con discapacidad y políticas de valor compartido a largo plazo.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5: SOSTENIBILIDAD DE GOBERNANZA (G)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Kevin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Integridad Corporativa: Ética, IA Responsable y Cadena de Valor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64592" cy="22402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D62"/>
                </a:solidFill>
                <a:latin typeface="Segoe UI"/>
              </a:defRPr>
            </a:pPr>
            <a:r>
              <a:t>🛡️ Canal Ético &amp; Denuncias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ESTÁNDAR: Resolución del 100%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Canal confidencial, externo e independiente para denuncias de irregularidades, con protocolo garantizado de no represalias y resolución del 100% de expedientes recibidos.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164592" cy="2240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  <a:latin typeface="Segoe UI"/>
              </a:defRPr>
            </a:pPr>
            <a:r>
              <a:t>📜 Código de Conducta Riguroso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ESTÁNDAR: Anticorrupción Estricta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Políticas de tolerancia cero contra el soborno, prevención de fraudes y control de conflictos de interés, de obligado cumplimiento para empleados y socios comerciales.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069080"/>
            <a:ext cx="164592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Segoe UI"/>
              </a:defRPr>
            </a:pPr>
            <a:r>
              <a:t>🤖 Ética en Inteligencia Artificial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ESTÁNDAR: Marcos de Evaluación &amp; RGPD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Comités internos para auditar la imparcialidad de los modelos algorítmicos, mitigar sesgos discriminatorios y garantizar el estricto cumplimiento del RGPD / LOPDGDD.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69080"/>
            <a:ext cx="525780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4069080"/>
            <a:ext cx="164592" cy="2240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47548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🔍 Cadena de Suministro ESG</a:t>
            </a:r>
          </a:p>
          <a:p>
            <a:pPr>
              <a:spcBef>
                <a:spcPts val="400"/>
              </a:spcBef>
              <a:defRPr sz="1100" b="1">
                <a:solidFill>
                  <a:srgbClr val="475569"/>
                </a:solidFill>
                <a:latin typeface="Segoe UI"/>
              </a:defRPr>
            </a:pPr>
            <a:r>
              <a:t>ESTÁNDAR: +35% Proveedores Auditados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Homologación y evaluación sistemática de criterios medioambientales y sociales en más del 35% de los proveedores y colaboradores clave de su cadena de compras.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6: INFORMACIÓN NEGATIVA Y SOMBRAS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Rocío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Análisis Crítico: Huella Oculta, Cártel de Consultoras y Calidad de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2900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☁️ Huella Indirecta (Alcance 3)</a:t>
            </a:r>
          </a:p>
          <a:p>
            <a:pPr>
              <a:defRPr sz="1000">
                <a:solidFill>
                  <a:srgbClr val="FEF3C7"/>
                </a:solidFill>
                <a:latin typeface="Segoe UI"/>
              </a:defRPr>
            </a:pPr>
            <a:r>
              <a:t>RETO AMBIENTAL CRÍTICO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• Fuerte dependencia de hiperescaladores (AWS, Azure, Google Cloud).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La mayor parte de las emisiones y el consumo hídrico del ciclo digital ocurren en servidores ajenos (Alcance 3 indirecto).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Dificultad técnica para controlar la huella energética real generada por sus clientes en la nube.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2900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⚖️ Caso Sanción CNMC (Everis)</a:t>
            </a:r>
          </a:p>
          <a:p>
            <a:pPr>
              <a:defRPr sz="1000">
                <a:solidFill>
                  <a:srgbClr val="FEE2E2"/>
                </a:solidFill>
                <a:latin typeface="Segoe UI"/>
              </a:defRPr>
            </a:pPr>
            <a:r>
              <a:t>MANCHA EN GOBERNANZA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146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• Sanción histórica de la CNMC por participar en el cártel de consultoras informáticas en España.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Reparto sistemático de licitaciones públicas de tecnología durante años mediante acuerdos ilegales.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Obligó a una reestructuración interna profunda de sus protocolos de cumplimiento tras la absorción por NTT.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29000" cy="73152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📊 Fiabilidad y Sesgo de Datos ESG</a:t>
            </a:r>
          </a:p>
          <a:p>
            <a:pPr>
              <a:defRPr sz="1000">
                <a:solidFill>
                  <a:srgbClr val="FEE2E2"/>
                </a:solidFill>
                <a:latin typeface="Segoe UI"/>
              </a:defRPr>
            </a:pPr>
            <a:r>
              <a:t>RETO SOCIAL Y ESTADÍSTICO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• Cerca del 30% de los datos ESG en grandes corporaciones carecen de la calidad o fiabilidad suficiente.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Prevalencia de procesos manuales y ausencia de modelos estadísticos claros, generando escepticismo.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• Riesgo de greenwashing corporativo si las métricas no están auditadas externamente de forma independiente.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7: RESPONSABILIDAD SOCIAL CORPORATIVA (RSC)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Rocío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Estrategia Global '3P': Planet, Prosperity and People Positive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42900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🌍 Planet Positive</a:t>
            </a:r>
          </a:p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IMPACTO AMBIENTAL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✔ Foco en la descarbonización de procesos internos y de clientes.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Desarrollo de herramientas propietarias como Syntphony Beyond Net Zero.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Promoción del Green Software (algoritmos optimizados para menor huella energética).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45920"/>
            <a:ext cx="3429000" cy="7772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📈 Prosperity Positive</a:t>
            </a:r>
          </a:p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IMPACTO ECONÓMICO ÉTICO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60604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✔ Impulso de una transformación digital responsable en sectores clave.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Colaboración ética con administraciones públicas, sanidad y banca.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Innovación tecnológica orientada a la resiliencia social y económica a largo plazo.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645920"/>
            <a:ext cx="34290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645920"/>
            <a:ext cx="3429000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👥 People Positive</a:t>
            </a:r>
          </a:p>
          <a:p>
            <a:pPr>
              <a:defRPr sz="1000">
                <a:solidFill>
                  <a:srgbClr val="E0F2FE"/>
                </a:solidFill>
                <a:latin typeface="Segoe UI"/>
              </a:defRPr>
            </a:pPr>
            <a:r>
              <a:t>IMPACTO SOCIAL Y TALENTO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606040"/>
            <a:ext cx="3063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✔ Programas de alfabetización digital para reducir la brecha tecnológica.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Apoyo al talento joven mediante becas y proyectos de formación técnica.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  <a:latin typeface="Segoe UI"/>
              </a:defRPr>
            </a:pPr>
            <a:r>
              <a:t>✔ Fomento de la inclusión, la diversidad y el bienestar integral de la comunidad.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8: INVERSIÓN SOCIALMENTE RESPONSABLE (ISR)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Kevin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¿Deberíamos Invertir en NTT DATA? Análisis de Oportunidades y Riesgos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Criterio de Evaluación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916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Fortalezas de NTT DATA (Pro-Inversión)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916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Factores de Riesgo / Qué Vigilar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📌 Negocio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2402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Gigante global de infraestructura TI, servicios cloud y consultoría de transformación digital de alta recurrencia.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40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Márgenes operativos más estrechos en servicios consultores convencionales y alta competencia en precios.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📌 Catalizador Tecnológico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1089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Boom masivo en adopción de Inteligencia Artificial generativa y expansión de centros de datos de alta velocidad en Europa y Asia.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1089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Riesgo de sostenibilidad en el coste de infraestructuras y necesidad de adaptarse a normativas estrictas de IA de la 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Segoe UI"/>
              </a:defRPr>
            </a:pPr>
            <a:r>
              <a:t>📌 Acceso a Mercado y Gobernanza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977639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Segoe UI"/>
              </a:defRPr>
            </a:pPr>
            <a:r>
              <a:t>Respaldo y solidez financiera del conglomerado estatal japonés NTT Group, con grado de inversión AAA.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977639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Inversión indirecta para minoristas en España, obligando a cotizar a través de la matriz en la Bolsa de Tokio (TSE: 9432).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0698480" cy="11887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💡 DICTAMEN DE INVERSIÓN SOCIALMENTE RESPONSABLE (ISR): RECOMENDACIÓN FAVORABLE CONDICIONADA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NTT DATA es una opción atractiva para fondos ESG gracias a su fortaleza financiera y papel clave en la digitalización limpia. Sin embargo, un inversor prudente debe vigilar la trazabilidad de sus emisiones de Alcance 3 en la nube y la gobernanza en contratación pública.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9: KPIS DE SOSTENIBILIDAD Y MEJORAS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Rocío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Métricas Cuantitativas: La Evidencia Numérica del Cambio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057400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59669"/>
                </a:solidFill>
                <a:latin typeface="Segoe UI"/>
              </a:defRPr>
            </a:pPr>
            <a:r>
              <a:t>99.6%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ELECTRICIDAD RENOVABLE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Uso de electricidad certificada con Garantía de Origen (GoO) alcanzada en instalaciones principales.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1" y="1645920"/>
            <a:ext cx="2057400" cy="109728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1" y="192024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2D62"/>
                </a:solidFill>
                <a:latin typeface="Segoe UI"/>
              </a:defRPr>
            </a:pPr>
            <a:r>
              <a:t>2.977 t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CO2E COMPENSADO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Emisiones neutralizadas de forma activa mediante proyectos auditados de reforestación corporativa.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645920"/>
            <a:ext cx="2057400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192024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284C7"/>
                </a:solidFill>
                <a:latin typeface="Segoe UI"/>
              </a:defRPr>
            </a:pPr>
            <a:r>
              <a:t>51%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SEDES CERTIFICADAS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De la superficie total de oficinas con certificaciones sostenibles de alto estándar (LEED, BREEAM, WELL).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0336" y="1645920"/>
            <a:ext cx="20574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92024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0B981"/>
                </a:solidFill>
                <a:latin typeface="Segoe UI"/>
              </a:defRPr>
            </a:pPr>
            <a:r>
              <a:t>33%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LIDERAZGO FEMENINO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Porcentaje de mujeres en puestos ejecutivos y roles de dirección, reduciendo la brecha técnica.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36608" y="1645920"/>
            <a:ext cx="2057400" cy="109728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1920240"/>
            <a:ext cx="1783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2D62"/>
                </a:solidFill>
                <a:latin typeface="Segoe UI"/>
              </a:defRPr>
            </a:pPr>
            <a:r>
              <a:t>96%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0F172A"/>
                </a:solidFill>
                <a:latin typeface="Segoe UI"/>
              </a:defRPr>
            </a:pPr>
            <a:r>
              <a:t>ORGULLO DE PLANTILLA</a:t>
            </a:r>
          </a:p>
          <a:p>
            <a:pPr>
              <a:spcBef>
                <a:spcPts val="1200"/>
              </a:spcBef>
              <a:defRPr sz="1000">
                <a:solidFill>
                  <a:srgbClr val="475569"/>
                </a:solidFill>
                <a:latin typeface="Segoe UI"/>
              </a:defRPr>
            </a:pPr>
            <a:r>
              <a:t>De los profesionales encuestados afirma sentirse plenamente satisfecho con el compromiso ESG.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284C7"/>
                </a:solidFill>
                <a:latin typeface="Segoe UI"/>
              </a:defRPr>
            </a:pPr>
            <a:r>
              <a:t>PUNTO 10: COMPROMISO CON LOS 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0" y="411480"/>
            <a:ext cx="1828800" cy="347472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2D62"/>
                </a:solidFill>
                <a:latin typeface="Segoe UI"/>
              </a:defRPr>
            </a:pPr>
            <a:r>
              <a:t>🎤 Rocío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04672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Alineación con la Agenda 2030 y Nuestro Rol en FP Informática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05740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🎓 ODS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D62"/>
                </a:solidFill>
                <a:latin typeface="Segoe UI"/>
              </a:defRPr>
            </a:pPr>
            <a:r>
              <a:t>Educación de Calidad</a:t>
            </a:r>
          </a:p>
          <a:p>
            <a:pPr>
              <a:spcBef>
                <a:spcPts val="400"/>
              </a:spcBef>
              <a:defRPr sz="1000" b="1">
                <a:solidFill>
                  <a:srgbClr val="475569"/>
                </a:solidFill>
                <a:latin typeface="Segoe UI"/>
              </a:defRPr>
            </a:pPr>
            <a:r>
              <a:t>Convenios FP Informática / DAM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Programas de alfabetización digital y acuerdos directos con centros de Formación Profesional (DAM/DAW) para formación dual, becas y prácticas.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07791" y="1645920"/>
            <a:ext cx="205740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👩‍💻 ODS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1" y="237744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Igualdad de Género</a:t>
            </a:r>
          </a:p>
          <a:p>
            <a:pPr>
              <a:spcBef>
                <a:spcPts val="400"/>
              </a:spcBef>
              <a:defRPr sz="1000" b="1">
                <a:solidFill>
                  <a:srgbClr val="475569"/>
                </a:solidFill>
                <a:latin typeface="Segoe UI"/>
              </a:defRPr>
            </a:pPr>
            <a:r>
              <a:t>Talento Femenino en Tech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Reducción activa de la brecha salarial, mentorías y programas dedicados a impulsar a las programadoras e ingenieras hacia puestos de mando.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84064" y="1645920"/>
            <a:ext cx="2057400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💼 ODS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37744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  <a:latin typeface="Segoe UI"/>
              </a:defRPr>
            </a:pPr>
            <a:r>
              <a:t>Trabajo Decente</a:t>
            </a:r>
          </a:p>
          <a:p>
            <a:pPr>
              <a:spcBef>
                <a:spcPts val="400"/>
              </a:spcBef>
              <a:defRPr sz="1000" b="1">
                <a:solidFill>
                  <a:srgbClr val="475569"/>
                </a:solidFill>
                <a:latin typeface="Segoe UI"/>
              </a:defRPr>
            </a:pPr>
            <a:r>
              <a:t>Empleo Joven y Cualificado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Generación continuada de miles de empleos técnicos de calidad en España, con contratos indefinidos y planes estructurados de carrera profesional.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0336" y="1645920"/>
            <a:ext cx="2057400" cy="64008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🚀 ODS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37744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D62"/>
                </a:solidFill>
                <a:latin typeface="Segoe UI"/>
              </a:defRPr>
            </a:pPr>
            <a:r>
              <a:t>Industria e Innovación</a:t>
            </a:r>
          </a:p>
          <a:p>
            <a:pPr>
              <a:spcBef>
                <a:spcPts val="400"/>
              </a:spcBef>
              <a:defRPr sz="1000" b="1">
                <a:solidFill>
                  <a:srgbClr val="475569"/>
                </a:solidFill>
                <a:latin typeface="Segoe UI"/>
              </a:defRPr>
            </a:pPr>
            <a:r>
              <a:t>Digitalización Sostenible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Modernización tecnológica de empresas estratégicas y del sector público mediante algoritmos de IA eficiente y arquitectura Cloud optimizada.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45920"/>
            <a:ext cx="20574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36608" y="1645920"/>
            <a:ext cx="205740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♻️ ODS 12 &amp;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37744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Clima y Circularidad</a:t>
            </a:r>
          </a:p>
          <a:p>
            <a:pPr>
              <a:spcBef>
                <a:spcPts val="400"/>
              </a:spcBef>
              <a:defRPr sz="1000" b="1">
                <a:solidFill>
                  <a:srgbClr val="475569"/>
                </a:solidFill>
                <a:latin typeface="Segoe UI"/>
              </a:defRPr>
            </a:pPr>
            <a:r>
              <a:t>Economía Circular y Net-Zero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  <a:latin typeface="Segoe UI"/>
              </a:defRPr>
            </a:pPr>
            <a:r>
              <a:t>Minimización y reciclaje de chatarra informática (e-waste), ecodiseño de software y metas corporativas vinculantes de descarbonización.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Segoe UI"/>
              </a:defRPr>
            </a:pPr>
            <a:r>
              <a:t>PUNTO 11: CONCLUSIONES Y REFLEXIÓN FINAL</a:t>
            </a:r>
          </a:p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El Rol de la Sostenibilidad en el Desarrollo de Software (DAM)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663440"/>
          </a:xfrm>
          <a:prstGeom prst="roundRect">
            <a:avLst/>
          </a:prstGeom>
          <a:solidFill>
            <a:srgbClr val="0F2240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29000" cy="731520"/>
          </a:xfrm>
          <a:prstGeom prst="rect">
            <a:avLst/>
          </a:prstGeom>
          <a:solidFill>
            <a:srgbClr val="18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✅ Balance de NTT DATA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Compromiso Sólido en Evolución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Demuestra un compromiso indiscutible en energía renovable (99.6%), certificaciones de oficinas y retención de talento.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Debe redoblar esfuerzos en auditar las emisiones indirectas de Alcance 3 asociadas a centros de datos ajenos.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La experiencia del caso CNMC sirvió de lección para reforzar blindajes éticos que hoy son referencia.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663440"/>
          </a:xfrm>
          <a:prstGeom prst="roundRect">
            <a:avLst/>
          </a:prstGeom>
          <a:solidFill>
            <a:srgbClr val="0F2240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1645920"/>
            <a:ext cx="3429000" cy="731520"/>
          </a:xfrm>
          <a:prstGeom prst="rect">
            <a:avLst/>
          </a:prstGeom>
          <a:solidFill>
            <a:srgbClr val="18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284C7"/>
                </a:solidFill>
                <a:latin typeface="Segoe UI"/>
              </a:defRPr>
            </a:pPr>
            <a:r>
              <a:t>💻 Nuestra Responsabilidad (DAM)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Hacia un Código Más Verde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5146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La sostenibilidad no es solo cosa de directores de RSC: empieza en las líneas de código que nosotros programamos.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Diseñar algoritmos eficientes, optimizar consultas SQL y reducir consumo de memoria rebaja la huella de carbono de los servidores.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Desarrollar software con ética, privacidad por diseño (RGPD) y accesibilidad universal es sostenibilidad aplicada.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29000" cy="4663440"/>
          </a:xfrm>
          <a:prstGeom prst="roundRect">
            <a:avLst/>
          </a:prstGeom>
          <a:solidFill>
            <a:srgbClr val="0F2240"/>
          </a:solidFill>
          <a:ln>
            <a:solidFill>
              <a:srgbClr val="1E3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80" y="1645920"/>
            <a:ext cx="3429000" cy="731520"/>
          </a:xfrm>
          <a:prstGeom prst="rect">
            <a:avLst/>
          </a:prstGeom>
          <a:solidFill>
            <a:srgbClr val="183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❓ Ronda de Preguntas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¿Qué Opina la Clase?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1460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¿Hasta qué punto es responsable una consultora de las emisiones de los servidores de Amazon o Microsoft?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¿Es compatible el boom del uso masivo de Inteligencia Artificial con los objetivos Net-Zero 2030?</a:t>
            </a:r>
          </a:p>
          <a:p>
            <a:pPr>
              <a:spcBef>
                <a:spcPts val="10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¡Muchas gracias por su atención! Abrimos turno para dudas y debate.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