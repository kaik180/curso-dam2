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097280"/>
            <a:ext cx="3840480" cy="47548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EcoRural</a:t>
            </a:r>
            <a:br/>
            <a:r>
              <a:t>Construcciones</a:t>
            </a:r>
          </a:p>
          <a:p>
            <a:pPr>
              <a:spcAft>
                <a:spcPts val="2400"/>
              </a:spcAft>
              <a:defRPr sz="1400">
                <a:solidFill>
                  <a:srgbClr val="B4DCC8"/>
                </a:solidFill>
                <a:latin typeface="Calibri"/>
              </a:defRPr>
            </a:pPr>
            <a:r>
              <a:t>Transformación Digital e Innovación Sostenible en el Medio Rural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Fundadores: Carlos y Esther</a:t>
            </a:r>
            <a:br/>
            <a:r>
              <a:t>Arquitectura · THD · Smart Village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28016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0916C"/>
                </a:solidFill>
                <a:latin typeface="Calibri"/>
              </a:defRPr>
            </a:pPr>
            <a:r>
              <a:t>PROYECTO DE DIGITALIZACIÓN APLICADA AL SISTEMA PRODUCTIVO</a:t>
            </a:r>
          </a:p>
          <a:p>
            <a:pPr>
              <a:spcAft>
                <a:spcPts val="2000"/>
              </a:spcAft>
              <a:defRPr sz="2600" b="1">
                <a:solidFill>
                  <a:srgbClr val="1B4332"/>
                </a:solidFill>
                <a:latin typeface="Calibri"/>
              </a:defRPr>
            </a:pPr>
            <a:r>
              <a:t>Plan Integral de Implementación de Tecnologías Habilitadoras Digitales (THD)</a:t>
            </a:r>
          </a:p>
          <a:p>
            <a:pPr>
              <a:spcAft>
                <a:spcPts val="2800"/>
              </a:spcAft>
              <a:defRPr sz="1200">
                <a:solidFill>
                  <a:srgbClr val="5A5F5C"/>
                </a:solidFill>
                <a:latin typeface="Calibri"/>
              </a:defRPr>
            </a:pPr>
            <a:r>
              <a:t>Modernización de procesos internos, construcción de viviendas inteligentes con estándar Passivhaus y dinamización de zonas comunes (Smart Villages).</a:t>
            </a:r>
          </a:p>
          <a:p>
            <a:pPr>
              <a:defRPr sz="1200" b="1">
                <a:solidFill>
                  <a:srgbClr val="2D6A4F"/>
                </a:solidFill>
                <a:latin typeface="Calibri"/>
              </a:defRPr>
            </a:pPr>
            <a:r>
              <a:t>Autor: Kevin  |  Curso: 2º DAM (Desarrollo de Aplicaciones Multiplataforma)</a:t>
            </a:r>
            <a:br/>
            <a:r>
              <a:t>Convocatoria Académica: 2025 - 2026  |  Entrega en Aules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0916C"/>
                </a:solidFill>
                <a:latin typeface="Calibri"/>
              </a:defRPr>
            </a:pPr>
            <a:r>
              <a:t>DIGITALIZACIÓN APLICADA AL SISTEMA PRODUCTIVO · 2º DAM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4332"/>
                </a:solidFill>
                <a:latin typeface="Calibri"/>
              </a:defRPr>
            </a:pPr>
            <a:r>
              <a:t>1. Contexto Comarcal y Visión de Carlos y Esther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El Territorio y la Oportunidad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Dinámica socioeconómica rural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Comarca de Pequeños Pueblos:</a:t>
            </a:r>
            <a:r>
              <a:rPr>
                <a:solidFill>
                  <a:srgbClr val="282828"/>
                </a:solidFill>
              </a:rPr>
              <a:t> Separados por muy pocos kilómetros (3-8 km) en un entorno natural privilegiado.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Llegada de Jóvenes:</a:t>
            </a:r>
            <a:r>
              <a:rPr>
                <a:solidFill>
                  <a:srgbClr val="282828"/>
                </a:solidFill>
              </a:rPr>
              <a:t> Profesionales que gracias al teletrabajo huyen de las grandes urbes buscando calidad de vida y calma.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Exigencia de Servicios:</a:t>
            </a:r>
            <a:r>
              <a:rPr>
                <a:solidFill>
                  <a:srgbClr val="282828"/>
                </a:solidFill>
              </a:rPr>
              <a:t> Quieren naturaleza, pero sin renunciar a conectividad de alta velocidad y comodidades del siglo XXI.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Compromiso de Origen:</a:t>
            </a:r>
            <a:r>
              <a:rPr>
                <a:solidFill>
                  <a:srgbClr val="282828"/>
                </a:solidFill>
              </a:rPr>
              <a:t> Carlos y Esther vuelven al valle donde se criaron para renovar el modelo constructivo.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El Reto de la Vivienda Antigua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Condicionantes del entorno edificado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Parque Envejecido:</a:t>
            </a:r>
            <a:r>
              <a:rPr>
                <a:solidFill>
                  <a:srgbClr val="282828"/>
                </a:solidFill>
              </a:rPr>
              <a:t> La gran mayoría de viviendas son antiguas y presentan graves déficits térmicos y de salubridad.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Necesidad de Rehabilitación:</a:t>
            </a:r>
            <a:r>
              <a:rPr>
                <a:solidFill>
                  <a:srgbClr val="282828"/>
                </a:solidFill>
              </a:rPr>
              <a:t> Muchas requieren una transformación integral para ser habitables hoy día.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Apoyo Municipal:</a:t>
            </a:r>
            <a:r>
              <a:rPr>
                <a:solidFill>
                  <a:srgbClr val="282828"/>
                </a:solidFill>
              </a:rPr>
              <a:t> Ayuntamientos aprueban medidas para fomentar nueva edificación ecológica y respetuosa.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Preservación Vernácula:</a:t>
            </a:r>
            <a:r>
              <a:rPr>
                <a:solidFill>
                  <a:srgbClr val="282828"/>
                </a:solidFill>
              </a:rPr>
              <a:t> Obligación de conservar la estética tradicional de piedra, madera y volumetrías históricas.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38328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La Solución: El Showroom Piloto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Estrategia de implantación gradual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Modelo Sostenible y Económico:</a:t>
            </a:r>
            <a:r>
              <a:rPr>
                <a:solidFill>
                  <a:srgbClr val="282828"/>
                </a:solidFill>
              </a:rPr>
              <a:t> Casas industrializadas con estándar Passivhaus y consumo de energía casi nulo.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Construcción Piloto (90 m²):</a:t>
            </a:r>
            <a:r>
              <a:rPr>
                <a:solidFill>
                  <a:srgbClr val="282828"/>
                </a:solidFill>
              </a:rPr>
              <a:t> Sede técnica de EcoRural y vivienda demostradora abierta a clientes y autoridades.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Living Lab Activo:</a:t>
            </a:r>
            <a:r>
              <a:rPr>
                <a:solidFill>
                  <a:srgbClr val="282828"/>
                </a:solidFill>
              </a:rPr>
              <a:t> Espacio donde validar in situ la domótica, el confort térmico y la autogeneración solar.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Enfoque Global:</a:t>
            </a:r>
            <a:r>
              <a:rPr>
                <a:solidFill>
                  <a:srgbClr val="282828"/>
                </a:solidFill>
              </a:rPr>
              <a:t> La digitalización no queda dentro de la empresa; se expande a la vivienda y al pueblo.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0916C"/>
                </a:solidFill>
                <a:latin typeface="Calibri"/>
              </a:defRPr>
            </a:pPr>
            <a:r>
              <a:t>DIGITALIZACIÓN APLICADA AL SISTEMA PRODUCTIVO · 2º DAM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4332"/>
                </a:solidFill>
                <a:latin typeface="Calibri"/>
              </a:defRPr>
            </a:pPr>
            <a:r>
              <a:t>2. Tarea 1: Digitalización de Procesos Internos en EcoRural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219456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BIM (5D/6D) y Gemelo Digital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Modelado 3D inteligente:</a:t>
            </a:r>
            <a:r>
              <a:rPr>
                <a:solidFill>
                  <a:srgbClr val="282828"/>
                </a:solidFill>
              </a:rPr>
              <a:t> Integración de geometría, costes (5D) y sostenibilidad (6D).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Detección de interferencias:</a:t>
            </a:r>
            <a:r>
              <a:rPr>
                <a:solidFill>
                  <a:srgbClr val="282828"/>
                </a:solidFill>
              </a:rPr>
              <a:t> Elimina errores entre tuberías y estructura antes de construir.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Impacto:</a:t>
            </a:r>
            <a:r>
              <a:rPr>
                <a:solidFill>
                  <a:srgbClr val="282828"/>
                </a:solidFill>
              </a:rPr>
              <a:t> Ahorro de un 30% en sobrecostes y mermas en compras de materiales.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Cloud Computing y CDE Colaborativo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Gestión centralizada:</a:t>
            </a:r>
            <a:r>
              <a:rPr>
                <a:solidFill>
                  <a:srgbClr val="282828"/>
                </a:solidFill>
              </a:rPr>
              <a:t> Planos y modelos sincronizados en la nube en tiempo real.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Movilidad en obra:</a:t>
            </a:r>
            <a:r>
              <a:rPr>
                <a:solidFill>
                  <a:srgbClr val="282828"/>
                </a:solidFill>
              </a:rPr>
              <a:t> Acceso inmediato desde tablets por parte de arquitectos y gremios.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Impacto:</a:t>
            </a:r>
            <a:r>
              <a:rPr>
                <a:solidFill>
                  <a:srgbClr val="282828"/>
                </a:solidFill>
              </a:rPr>
              <a:t> Desaparición total del papel y cero desplazamientos innecesarios.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5120640" cy="219456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Drones Topográficos y Termográficos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Fotogrametría aérea:</a:t>
            </a:r>
            <a:r>
              <a:rPr>
                <a:solidFill>
                  <a:srgbClr val="282828"/>
                </a:solidFill>
              </a:rPr>
              <a:t> Levantamiento 3D de parcelas escarpadas en 2 horas en vez de días.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Inspección de cubiertas:</a:t>
            </a:r>
            <a:r>
              <a:rPr>
                <a:solidFill>
                  <a:srgbClr val="282828"/>
                </a:solidFill>
              </a:rPr>
              <a:t> Detección de fisuras y fugas de calor sin subir a andamios.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Impacto:</a:t>
            </a:r>
            <a:r>
              <a:rPr>
                <a:solidFill>
                  <a:srgbClr val="282828"/>
                </a:solidFill>
              </a:rPr>
              <a:t> Supresión del riesgo laboral de caídas y documentación gráfica para clientes.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IA Generativa, Ciberseguridad y ERP Cloud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Diseño bioclimático por IA:</a:t>
            </a:r>
            <a:r>
              <a:rPr>
                <a:solidFill>
                  <a:srgbClr val="282828"/>
                </a:solidFill>
              </a:rPr>
              <a:t> Orientación y sombras optimizadas según el microclima.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Seguridad Zero Trust + Backup 3-2-1:</a:t>
            </a:r>
            <a:r>
              <a:rPr>
                <a:solidFill>
                  <a:srgbClr val="282828"/>
                </a:solidFill>
              </a:rPr>
              <a:t> Protección de planos frente a ransomware.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ERP/CRM en Nube:</a:t>
            </a:r>
            <a:r>
              <a:rPr>
                <a:solidFill>
                  <a:srgbClr val="282828"/>
                </a:solidFill>
              </a:rPr>
              <a:t> Facturación electrónica automática (VeriFactu) y margen en tiempo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0916C"/>
                </a:solidFill>
                <a:latin typeface="Calibri"/>
              </a:defRPr>
            </a:pPr>
            <a:r>
              <a:t>DIGITALIZACIÓN APLICADA AL SISTEMA PRODUCTIVO · 2º DAM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4332"/>
                </a:solidFill>
                <a:latin typeface="Calibri"/>
              </a:defRPr>
            </a:pPr>
            <a:r>
              <a:t>3. Tarea 2: THD Aplicables en la Construcción y Viviendas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IoT y Domótica Abierta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Ambiente saludable y eficiente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Protocolo Abierto Matter:</a:t>
            </a:r>
            <a:r>
              <a:rPr>
                <a:solidFill>
                  <a:srgbClr val="282828"/>
                </a:solidFill>
              </a:rPr>
              <a:t> Interoperabilidad sin depender de marcas cerradas.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Salubridad Interior:</a:t>
            </a:r>
            <a:r>
              <a:rPr>
                <a:solidFill>
                  <a:srgbClr val="282828"/>
                </a:solidFill>
              </a:rPr>
              <a:t> Monitorización continua de CO2, humedad y compuestos orgánicos (COVs).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Ventilación Mecánica (VMC):</a:t>
            </a:r>
            <a:r>
              <a:rPr>
                <a:solidFill>
                  <a:srgbClr val="282828"/>
                </a:solidFill>
              </a:rPr>
              <a:t> Recuperación del 90% del calor con aire siempre filtrado.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Protección Antifugas:</a:t>
            </a:r>
            <a:r>
              <a:rPr>
                <a:solidFill>
                  <a:srgbClr val="282828"/>
                </a:solidFill>
              </a:rPr>
              <a:t> Electroválvulas de corte de agua automático ante roturas en tuberías.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Beneficio:</a:t>
            </a:r>
            <a:r>
              <a:rPr>
                <a:solidFill>
                  <a:srgbClr val="282828"/>
                </a:solidFill>
              </a:rPr>
              <a:t> Confort térmico idóneo para teletrabajo y ahorro del 30% en energía.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Smart Energy e IA Predictiva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Vivienda de consumo casi nulo (nZEB)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Solar Integrada:</a:t>
            </a:r>
            <a:r>
              <a:rPr>
                <a:solidFill>
                  <a:srgbClr val="282828"/>
                </a:solidFill>
              </a:rPr>
              <a:t> Tejas solares que respetan la estética tradicional de pizarra.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Baterías Inteligentes (LiFePO4):</a:t>
            </a:r>
            <a:r>
              <a:rPr>
                <a:solidFill>
                  <a:srgbClr val="282828"/>
                </a:solidFill>
              </a:rPr>
              <a:t> Acumulación eléctrica de 10-15 kWh para la noche.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Algoritmo Predictivo IA:</a:t>
            </a:r>
            <a:r>
              <a:rPr>
                <a:solidFill>
                  <a:srgbClr val="282828"/>
                </a:solidFill>
              </a:rPr>
              <a:t> Cruza tarifas horarias y previsión climática de lluvia o sol.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Aerotermia de Alta Eficiencia:</a:t>
            </a:r>
            <a:r>
              <a:rPr>
                <a:solidFill>
                  <a:srgbClr val="282828"/>
                </a:solidFill>
              </a:rPr>
              <a:t> Suelo radiante y agua caliente con COP superior a 4.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Beneficio:</a:t>
            </a:r>
            <a:r>
              <a:rPr>
                <a:solidFill>
                  <a:srgbClr val="282828"/>
                </a:solidFill>
              </a:rPr>
              <a:t> Facturas casi nulas y blindaje ante cortes de red eléctrica en el campo.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38328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Vanguardia: 3D, VR y Blockchain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Transparencia y personalización total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Impresión 3D:</a:t>
            </a:r>
            <a:r>
              <a:rPr>
                <a:solidFill>
                  <a:srgbClr val="282828"/>
                </a:solidFill>
              </a:rPr>
              <a:t> Fabricación de celosías tradicionales y remates de cubierta sin residuo.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Showroom VR:</a:t>
            </a:r>
            <a:r>
              <a:rPr>
                <a:solidFill>
                  <a:srgbClr val="282828"/>
                </a:solidFill>
              </a:rPr>
              <a:t> Los clientes pasean y eligen los acabados interiores antes de construir.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Realidad Aumentada (AR):</a:t>
            </a:r>
            <a:r>
              <a:rPr>
                <a:solidFill>
                  <a:srgbClr val="282828"/>
                </a:solidFill>
              </a:rPr>
              <a:t> Los operarios visualizan canalizaciones ocultas en la pared.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Blockchain y Pasaporte Digital:</a:t>
            </a:r>
            <a:r>
              <a:rPr>
                <a:solidFill>
                  <a:srgbClr val="282828"/>
                </a:solidFill>
              </a:rPr>
              <a:t> Certificación inalterable de maderas locales y mantenimiento.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Biometría:</a:t>
            </a:r>
            <a:r>
              <a:rPr>
                <a:solidFill>
                  <a:srgbClr val="282828"/>
                </a:solidFill>
              </a:rPr>
              <a:t> Apertura por huella y códigos temporales para paquetería mientras trabajas.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0916C"/>
                </a:solidFill>
                <a:latin typeface="Calibri"/>
              </a:defRPr>
            </a:pPr>
            <a:r>
              <a:t>DIGITALIZACIÓN APLICADA AL SISTEMA PRODUCTIVO · 2º DAM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4332"/>
                </a:solidFill>
                <a:latin typeface="Calibri"/>
              </a:defRPr>
            </a:pPr>
            <a:r>
              <a:t>4. Tarea 3: Modernización Comarcal y 'Smart Village'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219456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Alumbrado Público Inteligente (IoT)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Luminarias LED con sensor de presencia:</a:t>
            </a:r>
            <a:r>
              <a:rPr>
                <a:solidFill>
                  <a:srgbClr val="282828"/>
                </a:solidFill>
              </a:rPr>
              <a:t> Modo reposo (20%) si no hay viandantes ni tráfico.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Diseño rústico tradicional:</a:t>
            </a:r>
            <a:r>
              <a:rPr>
                <a:solidFill>
                  <a:srgbClr val="282828"/>
                </a:solidFill>
              </a:rPr>
              <a:t> Estética de forja que aloja en su interior la electrónica IoT.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Impacto:</a:t>
            </a:r>
            <a:r>
              <a:rPr>
                <a:solidFill>
                  <a:srgbClr val="282828"/>
                </a:solidFill>
              </a:rPr>
              <a:t> Ahorro de más del 70% en luz municipal y eliminación de la contaminación lumínica (Cielos Starlight).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Gestión de Residuos y Riego Eficiente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Contenedores sensorizados:</a:t>
            </a:r>
            <a:r>
              <a:rPr>
                <a:solidFill>
                  <a:srgbClr val="282828"/>
                </a:solidFill>
              </a:rPr>
              <a:t> Ultrasonidos que avisan a la Mancomunidad al llegar al 80% de llenado.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Riego predictivo en parques:</a:t>
            </a:r>
            <a:r>
              <a:rPr>
                <a:solidFill>
                  <a:srgbClr val="282828"/>
                </a:solidFill>
              </a:rPr>
              <a:t> Sondas de humedad en suelo que bloquean el agua si va a llover.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Impacto:</a:t>
            </a:r>
            <a:r>
              <a:rPr>
                <a:solidFill>
                  <a:srgbClr val="282828"/>
                </a:solidFill>
              </a:rPr>
              <a:t> Reducción del 45% en consumo de gasóleo de camiones y del 50% de agua en zonas verdes.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5120640" cy="219456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Red Comarcal LoRaWAN y Wi-Fi Público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Cobertura de bajo consumo:</a:t>
            </a:r>
            <a:r>
              <a:rPr>
                <a:solidFill>
                  <a:srgbClr val="282828"/>
                </a:solidFill>
              </a:rPr>
              <a:t> 3 antenas que cubren todos los valles para telemetría municipal.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Plazas conectadas (WiFi4EU):</a:t>
            </a:r>
            <a:r>
              <a:rPr>
                <a:solidFill>
                  <a:srgbClr val="282828"/>
                </a:solidFill>
              </a:rPr>
              <a:t> Permite a teletrabajadores y vecinos trabajar en plazas al aire libre.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Impacto:</a:t>
            </a:r>
            <a:r>
              <a:rPr>
                <a:solidFill>
                  <a:srgbClr val="282828"/>
                </a:solidFill>
              </a:rPr>
              <a:t> Red abierta que moderniza también a agricultores y ganaderos locales (ganado con GPS).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Alerta de Incendios y Plataforma Ciudadana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Detección térmica con IA:</a:t>
            </a:r>
            <a:r>
              <a:rPr>
                <a:solidFill>
                  <a:srgbClr val="282828"/>
                </a:solidFill>
              </a:rPr>
              <a:t> Alerta de conatos de fuego forestal en menos de 5 minutos.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Boyas en ríos:</a:t>
            </a:r>
            <a:r>
              <a:rPr>
                <a:solidFill>
                  <a:srgbClr val="282828"/>
                </a:solidFill>
              </a:rPr>
              <a:t> Monitorización en tiempo real para prever riadas o crecidas repentinas.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App Municipal + AR:</a:t>
            </a:r>
            <a:r>
              <a:rPr>
                <a:solidFill>
                  <a:srgbClr val="282828"/>
                </a:solidFill>
              </a:rPr>
              <a:t> Envío de averías con foto/GPS y rutas turísticas culturales con Realidad Aumentada.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0916C"/>
                </a:solidFill>
                <a:latin typeface="Calibri"/>
              </a:defRPr>
            </a:pPr>
            <a:r>
              <a:t>DIGITALIZACIÓN APLICADA AL SISTEMA PRODUCTIVO · 2º DAM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4332"/>
                </a:solidFill>
                <a:latin typeface="Calibri"/>
              </a:defRPr>
            </a:pPr>
            <a:r>
              <a:t>5. Tarea 4: Evaluación de Impacto Medioambiental y Circularidad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Descarbonización y Energía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Hacia la huella de carbono negativa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Estándar Passivhaus:</a:t>
            </a:r>
            <a:r>
              <a:rPr>
                <a:solidFill>
                  <a:srgbClr val="282828"/>
                </a:solidFill>
              </a:rPr>
              <a:t> Demanda de calefacción inferior a 15 kWh/m² al año.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Ahorro de Emisiones:</a:t>
            </a:r>
            <a:r>
              <a:rPr>
                <a:solidFill>
                  <a:srgbClr val="282828"/>
                </a:solidFill>
              </a:rPr>
              <a:t> Cada vivienda evita 4,2 toneladas de CO2 al año gracias a solar y aerotermia.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Eficiencia Global:</a:t>
            </a:r>
            <a:r>
              <a:rPr>
                <a:solidFill>
                  <a:srgbClr val="282828"/>
                </a:solidFill>
              </a:rPr>
              <a:t> La gestión predictiva con IA evita consumir energía en las horas más contaminantes de la red.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Movilidad Limpia:</a:t>
            </a:r>
            <a:r>
              <a:rPr>
                <a:solidFill>
                  <a:srgbClr val="282828"/>
                </a:solidFill>
              </a:rPr>
              <a:t> Integración de cargador de vehículo eléctrico alimentado con excedentes solares.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Economía Circular y KM Cero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Construcción regenerativa y local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Materiales Autóctonos:</a:t>
            </a:r>
            <a:r>
              <a:rPr>
                <a:solidFill>
                  <a:srgbClr val="282828"/>
                </a:solidFill>
              </a:rPr>
              <a:t> Madera de bosques comarcales sostenibles y mampostería de piedra local.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Reutilización en Obra:</a:t>
            </a:r>
            <a:r>
              <a:rPr>
                <a:solidFill>
                  <a:srgbClr val="282828"/>
                </a:solidFill>
              </a:rPr>
              <a:t> En rehabilitación, se recupera el 80% de la piedra existente mediante escaneo BIM.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Fabricación Modular:</a:t>
            </a:r>
            <a:r>
              <a:rPr>
                <a:solidFill>
                  <a:srgbClr val="282828"/>
                </a:solidFill>
              </a:rPr>
              <a:t> Las piezas preensambladas reducen los escombros a pie de obra en un 80%.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Tratamiento de Aguas:</a:t>
            </a:r>
            <a:r>
              <a:rPr>
                <a:solidFill>
                  <a:srgbClr val="282828"/>
                </a:solidFill>
              </a:rPr>
              <a:t> Saneamiento con fitodepuración natural (humedales) sin químicos vertidos a ríos.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38328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Protección del Ecosistema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Sinergia con la naturaleza rural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Cielos Nocturnos Limpios:</a:t>
            </a:r>
            <a:r>
              <a:rPr>
                <a:solidFill>
                  <a:srgbClr val="282828"/>
                </a:solidFill>
              </a:rPr>
              <a:t> La telegestión de farolas protege la fauna nocturna y permite el astroturismo.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Ahorro de Agua Municipal:</a:t>
            </a:r>
            <a:r>
              <a:rPr>
                <a:solidFill>
                  <a:srgbClr val="282828"/>
                </a:solidFill>
              </a:rPr>
              <a:t> Las zonas comunes reducen a la mitad su consumo de riego con sondas de humedad.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Resiliencia Forestal:</a:t>
            </a:r>
            <a:r>
              <a:rPr>
                <a:solidFill>
                  <a:srgbClr val="282828"/>
                </a:solidFill>
              </a:rPr>
              <a:t> La red de cámaras térmicas previene grandes desastres de incendios en el monte.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Equilibrio Visual:</a:t>
            </a:r>
            <a:r>
              <a:rPr>
                <a:solidFill>
                  <a:srgbClr val="282828"/>
                </a:solidFill>
              </a:rPr>
              <a:t> Las casas se mimetizan estéticamente con el paisaje sin estridencias.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0916C"/>
                </a:solidFill>
                <a:latin typeface="Calibri"/>
              </a:defRPr>
            </a:pPr>
            <a:r>
              <a:t>DIGITALIZACIÓN APLICADA AL SISTEMA PRODUCTIVO · 2º DAM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4332"/>
                </a:solidFill>
                <a:latin typeface="Calibri"/>
              </a:defRPr>
            </a:pPr>
            <a:r>
              <a:t>6. Tarea 4: Impacto Social, Inclusión y Matriz de Mitigación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Impacto Social: Freno a la Despoblación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Beneficios transformadores en la comarca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Fijación de Jóvenes:</a:t>
            </a:r>
            <a:r>
              <a:rPr>
                <a:solidFill>
                  <a:srgbClr val="282828"/>
                </a:solidFill>
              </a:rPr>
              <a:t> La oferta de casas tecnológicas asequibles atrae a nómadas digitales y jóvenes familias que reactivan escuelas y comercios.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Capacitación de Gremios Locales:</a:t>
            </a:r>
            <a:r>
              <a:rPr>
                <a:solidFill>
                  <a:srgbClr val="282828"/>
                </a:solidFill>
              </a:rPr>
              <a:t> EcoRural forma a albañiles, fontaneros y electricistas del valle en domótica y tecnologías verdes.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Silver Economy y Mayores:</a:t>
            </a:r>
            <a:r>
              <a:rPr>
                <a:solidFill>
                  <a:srgbClr val="282828"/>
                </a:solidFill>
              </a:rPr>
              <a:t> Domótica asistencial invisible (luz nocturna suave que evita caídas, teleasistencia por voz, sensores de inactividad) para que los ancianos vivan seguros en su hogar de siempre.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Cohesión Comunitaria:</a:t>
            </a:r>
            <a:r>
              <a:rPr>
                <a:solidFill>
                  <a:srgbClr val="282828"/>
                </a:solidFill>
              </a:rPr>
              <a:t> La app comarcal y los espacios públicos conectados fortalecen la vida colectiva del valle.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Matriz de Riesgos y Mitigación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Gestión preventiva y responsable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Riesgo de Ruptura Estética:</a:t>
            </a:r>
            <a:r>
              <a:rPr>
                <a:solidFill>
                  <a:srgbClr val="282828"/>
                </a:solidFill>
              </a:rPr>
              <a:t> Miedo a que la tecnología rompa el encanto tradicional.
→ Mitigación: Tecnología oculta, tejas solares de pizarra y farolas rústicas de forja con electrónica embutida.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Riesgo de Brecha Digital:</a:t>
            </a:r>
            <a:r>
              <a:rPr>
                <a:solidFill>
                  <a:srgbClr val="282828"/>
                </a:solidFill>
              </a:rPr>
              <a:t> Dificultad para vecinos mayores con la tecnología.
→ Mitigación: Automatismos pasivos sin pantallas, pulsadores de toda la vida y talleres comunitarios de Carlos y Esther.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Riesgo de Gentrificación y Subida de Precios:</a:t>
            </a:r>
            <a:r>
              <a:rPr>
                <a:solidFill>
                  <a:srgbClr val="282828"/>
                </a:solidFill>
              </a:rPr>
              <a:t> Expulsión de la juventud local.
→ Mitigación: Precios contenidos por industrialización y convenios de suelo público con los consistorios.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Riesgo de Basura Electrónica (e-waste):</a:t>
            </a:r>
            <a:r>
              <a:rPr>
                <a:solidFill>
                  <a:srgbClr val="282828"/>
                </a:solidFill>
              </a:rPr>
              <a:t> Dispositivos obsoletos en pocos años.
→ Mitigación: Protocolos abiertos (Matter) y reciclaje en el Punto Limpio comarcal.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0916C"/>
                </a:solidFill>
                <a:latin typeface="Calibri"/>
              </a:defRPr>
            </a:pPr>
            <a:r>
              <a:t>DIGITALIZACIÓN APLICADA AL SISTEMA PRODUCTIVO · 2º DAM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4332"/>
                </a:solidFill>
                <a:latin typeface="Calibri"/>
              </a:defRPr>
            </a:pPr>
            <a:r>
              <a:t>7. Hoja de Ruta, Conclusiones y Defensa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Fases de Implantación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Cronograma y presupuesto controlado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Fase 1 (M1 - M4):</a:t>
            </a:r>
            <a:r>
              <a:rPr>
                <a:solidFill>
                  <a:srgbClr val="282828"/>
                </a:solidFill>
              </a:rPr>
              <a:t> Digitalización Interna
• BIM 5D, Nube CDE, Dron y Ciberseguridad.
• Inversión: 18.500 € (Kit Digital / Fondos UE).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Fase 2 (M5 - M10):</a:t>
            </a:r>
            <a:r>
              <a:rPr>
                <a:solidFill>
                  <a:srgbClr val="282828"/>
                </a:solidFill>
              </a:rPr>
              <a:t> Vivienda Piloto
• Construcción del Showroom y Living Lab.
• Integración de IoT Matter, baterías y VR.
• Inversión: 125.000 € (Crédito verde).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Fase 3 (M11 - M18):</a:t>
            </a:r>
            <a:r>
              <a:rPr>
                <a:solidFill>
                  <a:srgbClr val="282828"/>
                </a:solidFill>
              </a:rPr>
              <a:t> Despliegue Smart Village
• Venta de promociones y red LoRaWAN comarcal.
• Convenios de telegestión con ayuntamientos.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Valoración Estratégica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Lecciones del plan de Carlos y Esther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Sin THD no hay Sostenibilidad Real:</a:t>
            </a:r>
            <a:r>
              <a:rPr>
                <a:solidFill>
                  <a:srgbClr val="282828"/>
                </a:solidFill>
              </a:rPr>
              <a:t> Las THD permiten medir la energía, optimizar materiales y garantizar el impacto neto cero.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Alta Rentabilidad Económica:</a:t>
            </a:r>
            <a:r>
              <a:rPr>
                <a:solidFill>
                  <a:srgbClr val="282828"/>
                </a:solidFill>
              </a:rPr>
              <a:t> La eliminación del 30% en errores de obra y los plazos acortados amortizan la inversión desde el 1er año.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Modelo Exportable:</a:t>
            </a:r>
            <a:r>
              <a:rPr>
                <a:solidFill>
                  <a:srgbClr val="282828"/>
                </a:solidFill>
              </a:rPr>
              <a:t> EcoRural demuestra que la innovación es el escudo más potente para el futuro del medio rural.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Conexión con el Territorio:</a:t>
            </a:r>
            <a:r>
              <a:rPr>
                <a:solidFill>
                  <a:srgbClr val="282828"/>
                </a:solidFill>
              </a:rPr>
              <a:t> Se preserva la memoria de los pueblos modernizando sus infraestructuras.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383280" cy="4572000"/>
          </a:xfrm>
          <a:prstGeom prst="roundRect">
            <a:avLst/>
          </a:prstGeom>
          <a:solidFill>
            <a:srgbClr val="F4F7F5"/>
          </a:solidFill>
          <a:ln w="15240">
            <a:solidFill>
              <a:srgbClr val="C8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B4332"/>
                </a:solidFill>
                <a:latin typeface="Calibri"/>
              </a:defRPr>
            </a:pPr>
            <a:r>
              <a:t>Datos de Defensa y Aules</a:t>
            </a:r>
          </a:p>
          <a:p>
            <a:pPr>
              <a:spcAft>
                <a:spcPts val="800"/>
              </a:spcAft>
              <a:defRPr sz="1000" i="1">
                <a:solidFill>
                  <a:srgbClr val="2D6A4F"/>
                </a:solidFill>
                <a:latin typeface="Calibri"/>
              </a:defRPr>
            </a:pPr>
            <a:r>
              <a:t>Cierre institucional y académico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Proyecto:</a:t>
            </a:r>
            <a:r>
              <a:rPr>
                <a:solidFill>
                  <a:srgbClr val="282828"/>
                </a:solidFill>
              </a:rPr>
              <a:t> Plan de Transformación Digital de EcoRural Construcciones.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Módulo:</a:t>
            </a:r>
            <a:r>
              <a:rPr>
                <a:solidFill>
                  <a:srgbClr val="282828"/>
                </a:solidFill>
              </a:rPr>
              <a:t> Digitalización Aplicada al Sistema Productivo.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Alumno:</a:t>
            </a:r>
            <a:r>
              <a:rPr>
                <a:solidFill>
                  <a:srgbClr val="282828"/>
                </a:solidFill>
              </a:rPr>
              <a:t> Kevin (2º DAM).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D6A4F"/>
                </a:solidFill>
              </a:rPr>
              <a:t>Documentación Entregada:</a:t>
            </a:r>
            <a:r>
              <a:rPr>
                <a:solidFill>
                  <a:srgbClr val="282828"/>
                </a:solidFill>
              </a:rPr>
              <a:t>
• Informe Técnico Oficial (Calibri 11, justificado, 1.5, tablas completas).
• Presentación Ejecutiva en Diapositivas.
• Enlace y entrega formal en Aules.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>
                <a:solidFill>
                  <a:srgbClr val="282828"/>
                </a:solidFill>
              </a:rPr>
              <a:t>¡Muchas gracias por su atención! Turno de preguntas y defensa.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