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bor_urbano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3474720" cy="3474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64592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85082"/>
                </a:solidFill>
                <a:latin typeface="Arial"/>
              </a:defRPr>
            </a:pPr>
            <a:r>
              <a:t>PROYECTO DE DIGITALIZACIÓN DE EMPRESA</a:t>
            </a:r>
          </a:p>
          <a:p>
            <a:pPr>
              <a:spcAft>
                <a:spcPts val="2400"/>
              </a:spcAft>
              <a:defRPr sz="2600" b="1">
                <a:solidFill>
                  <a:srgbClr val="14325A"/>
                </a:solidFill>
                <a:latin typeface="Arial"/>
              </a:defRPr>
            </a:pPr>
            <a:r>
              <a:t>Integración de Tecnologías IT y OT:</a:t>
            </a:r>
            <a:br/>
            <a:r>
              <a:t>Restaurante "Sabor Urbano"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Alumno: Kevin</a:t>
            </a:r>
            <a:br/>
            <a:r>
              <a:t>Curso: 2º DAM (Desarrollo de Aplicaciones Multiplataforma)</a:t>
            </a:r>
            <a:br/>
            <a:r>
              <a:t>Módulo: Digitalización Aplicada al Sector Productivo</a:t>
            </a:r>
            <a:br/>
            <a:r>
              <a:t>Curso Académico: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1. Situación Inicial y Problemas Detectados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Restaurante tradicional bien situado: </a:t>
            </a:r>
            <a:r>
              <a:rPr sz="1400">
                <a:solidFill>
                  <a:srgbClr val="282828"/>
                </a:solidFill>
                <a:latin typeface="Arial"/>
              </a:rPr>
              <a:t>Ubicado en el centro de la ciudad con buena comida mediterránea y de fusión, pero gestionado totalmente a mano.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Reservas en libreta de papel: </a:t>
            </a:r>
            <a:r>
              <a:rPr sz="1400">
                <a:solidFill>
                  <a:srgbClr val="282828"/>
                </a:solidFill>
                <a:latin typeface="Arial"/>
              </a:rPr>
              <a:t>Anotadas a mano o por teléfono; causaba mesas duplicadas, despistes y huecos vacíos por cancelaciones sin aviso.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Control visual del almacén: </a:t>
            </a:r>
            <a:r>
              <a:rPr sz="1400">
                <a:solidFill>
                  <a:srgbClr val="282828"/>
                </a:solidFill>
                <a:latin typeface="Arial"/>
              </a:rPr>
              <a:t>Se revisaba a ojo sin apuntar nada; se caducaba comida, faltaba género en horas punta y no se controlaban las mermas.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Caja registradora antigua: </a:t>
            </a:r>
            <a:r>
              <a:rPr sz="1400">
                <a:solidFill>
                  <a:srgbClr val="282828"/>
                </a:solidFill>
                <a:latin typeface="Arial"/>
              </a:rPr>
              <a:t>Cobros aislados sin conexión a ningún programa ni contabilidad, con cierres lentos y descuadres de dinero.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Comandas en papel y a voz: </a:t>
            </a:r>
            <a:r>
              <a:rPr sz="1400">
                <a:solidFill>
                  <a:srgbClr val="282828"/>
                </a:solidFill>
                <a:latin typeface="Arial"/>
              </a:rPr>
              <a:t>Notas a mano ilegibles que se perdían, errores con platos para alérgicos y retrasos entre la sala y la cocina.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2. Equipos Físicos en el Local (Tecnologías 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Comanderos táctiles (Sunmi V2s Plus): </a:t>
            </a:r>
            <a:r>
              <a:rPr sz="1400">
                <a:solidFill>
                  <a:srgbClr val="282828"/>
                </a:solidFill>
                <a:latin typeface="Arial"/>
              </a:rPr>
              <a:t>3 terminales móviles para camareros. Toman la comanda en la mesa y llega al segundo a la cocina.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Pantallas táctiles de cocina KDS (ELO Touch 22"):  </a:t>
            </a:r>
            <a:r>
              <a:rPr sz="1400">
                <a:solidFill>
                  <a:srgbClr val="282828"/>
                </a:solidFill>
                <a:latin typeface="Arial"/>
              </a:rPr>
              <a:t>2 pantallas resistentes a grasa y vapor en las partidas de cocina. Organizan los platos por orden y tiempo.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Cajón de cobro automático (Cashlogy POS 1500): </a:t>
            </a:r>
            <a:r>
              <a:rPr sz="1400">
                <a:solidFill>
                  <a:srgbClr val="282828"/>
                </a:solidFill>
                <a:latin typeface="Arial"/>
              </a:rPr>
              <a:t>Cobra el efectivo, devuelve el cambio exacto, rechaza billetes falsos y cuadra la caja al céntimo.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Control de almacén (Zebra TC21 + Báscula Dibal): </a:t>
            </a:r>
            <a:r>
              <a:rPr sz="1400">
                <a:solidFill>
                  <a:srgbClr val="282828"/>
                </a:solidFill>
                <a:latin typeface="Arial"/>
              </a:rPr>
              <a:t>Lectores de códigos de barras y báscula conectada para registrar pedidos de proveedores y pesar materias primas.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Sensores de frío para cámaras (Testo Saveris): </a:t>
            </a:r>
            <a:r>
              <a:rPr sz="1400">
                <a:solidFill>
                  <a:srgbClr val="282828"/>
                </a:solidFill>
                <a:latin typeface="Arial"/>
              </a:rPr>
              <a:t>Monitorizan la temperatura 24/7 y avisan al móvil si se corta la luz para cumplir la normativa sanitaria APPCC.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3. Programas y Servicios en la Nube (Tecnologías 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Programa de Gestión ERP (Revo Xef + Holded): </a:t>
            </a:r>
            <a:r>
              <a:rPr sz="1400">
                <a:solidFill>
                  <a:srgbClr val="282828"/>
                </a:solidFill>
                <a:latin typeface="Arial"/>
              </a:rPr>
              <a:t>Control de compras, facturas con el móvil por OCR, cálculo del coste real de cada plato (escandallos) y factura electrónica legal.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Gestión de Reservas Online (CoverManager): </a:t>
            </a:r>
            <a:r>
              <a:rPr sz="1400">
                <a:solidFill>
                  <a:srgbClr val="282828"/>
                </a:solidFill>
                <a:latin typeface="Arial"/>
              </a:rPr>
              <a:t>Reservas 24 horas desde la web, Google Maps o Instagram sin pagar comisiones; organiza las mesas y pide fianza para evitar mesas vacías.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Página Web propia con pedidos (WordPress + WooCommerce): </a:t>
            </a:r>
            <a:r>
              <a:rPr sz="1400">
                <a:solidFill>
                  <a:srgbClr val="282828"/>
                </a:solidFill>
                <a:latin typeface="Arial"/>
              </a:rPr>
              <a:t>Carta digital actualizada con fotos y venta directa de comida para llevar sin intermediarios.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Presencia local y opiniones (Localoo / Google Business): </a:t>
            </a:r>
            <a:r>
              <a:rPr sz="1400">
                <a:solidFill>
                  <a:srgbClr val="282828"/>
                </a:solidFill>
                <a:latin typeface="Arial"/>
              </a:rPr>
              <a:t>Mantiene siempre al día los horarios y fotos en Google Maps y ayuda a responder rápido a las reseñas de los clientes.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Cuadro de Mandos con Gráficos (Power BI): </a:t>
            </a:r>
            <a:r>
              <a:rPr sz="1400">
                <a:solidFill>
                  <a:srgbClr val="282828"/>
                </a:solidFill>
                <a:latin typeface="Arial"/>
              </a:rPr>
              <a:t>Muestra en pantalla qué platos dejan más dinero limpio, qué días se llena más y cuánta comida comprar para no tirar nada.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4. Plan de Trabajo en 5 Fases (8 Semanas)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Fase 1 (Semanas 1-2) - Red y Comunicaciones: </a:t>
            </a:r>
            <a:r>
              <a:rPr sz="1400">
                <a:solidFill>
                  <a:srgbClr val="282828"/>
                </a:solidFill>
                <a:latin typeface="Arial"/>
              </a:rPr>
              <a:t>Instalar cable de red Cat 6A, dos puntos de acceso Wi-Fi 6 para los comanderos y router con SIM 4G/5G de respaldo.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Fase 2 (Semanas 3-4) - Configuración del Software: </a:t>
            </a:r>
            <a:r>
              <a:rPr sz="1400">
                <a:solidFill>
                  <a:srgbClr val="282828"/>
                </a:solidFill>
                <a:latin typeface="Arial"/>
              </a:rPr>
              <a:t>Dar de alta el ERP, meter la carta con precios, ingredientes y alérgenos, y configurar el mapa de mesas.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Fase 3 (Semanas 5-6) - Instalación de Aparatos: </a:t>
            </a:r>
            <a:r>
              <a:rPr sz="1400">
                <a:solidFill>
                  <a:srgbClr val="282828"/>
                </a:solidFill>
                <a:latin typeface="Arial"/>
              </a:rPr>
              <a:t>Montar las pantallas en cocina, el cajón automático en barra, configurar los comanderos y colocar los sensores de frío.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Fase 4 (Semana 7) - Pruebas y Ensayo: </a:t>
            </a:r>
            <a:r>
              <a:rPr sz="1400">
                <a:solidFill>
                  <a:srgbClr val="282828"/>
                </a:solidFill>
                <a:latin typeface="Arial"/>
              </a:rPr>
              <a:t>Comprobar que todo sincroniza y hacer un servicio a puerta cerrada con familiares para probar el sistema en real.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Fase 5 (Semana 8) - Formación y Puesta en Marcha: </a:t>
            </a:r>
            <a:r>
              <a:rPr sz="1400">
                <a:solidFill>
                  <a:srgbClr val="282828"/>
                </a:solidFill>
                <a:latin typeface="Arial"/>
              </a:rPr>
              <a:t>Enseñar a usar las aplicaciones a camareros y cocineros, abrir con el sistema nuevo y soporte técnico las dos primeras semanas.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5. Ciberseguridad y Prevención de Problemas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Miedo al cambio de los trabajadores: </a:t>
            </a:r>
            <a:r>
              <a:rPr sz="1400">
                <a:solidFill>
                  <a:srgbClr val="282828"/>
                </a:solidFill>
                <a:latin typeface="Arial"/>
              </a:rPr>
              <a:t>Se resuelve con formación práctica paso a paso y pantallas con fotos grandes y botones sencillos.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Si se corta internet o la luz: </a:t>
            </a:r>
            <a:r>
              <a:rPr sz="1400">
                <a:solidFill>
                  <a:srgbClr val="282828"/>
                </a:solidFill>
                <a:latin typeface="Arial"/>
              </a:rPr>
              <a:t>Un SAI mantiene encendida la caja y el router, la conexión cambia sola a 4G/5G en segundos y el TPV puede seguir cobrando en red local sin internet.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Redes separadas en 4 VLANs: </a:t>
            </a:r>
            <a:r>
              <a:rPr sz="1400">
                <a:solidFill>
                  <a:srgbClr val="282828"/>
                </a:solidFill>
                <a:latin typeface="Arial"/>
              </a:rPr>
              <a:t>Una red para cobrar y pedir, otra para sensores de cocina, otra para oficina y otra para la Wi-Fi de clientes, para que nadie pueda acceder a los datos.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Pagos seguros (PCI-DSS): </a:t>
            </a:r>
            <a:r>
              <a:rPr sz="1400">
                <a:solidFill>
                  <a:srgbClr val="282828"/>
                </a:solidFill>
                <a:latin typeface="Arial"/>
              </a:rPr>
              <a:t>Los datáfonos van cifrados y el restaurante nunca almacena números de tarjeta bancaria.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Copias de seguridad (Regla 3-2-1): </a:t>
            </a:r>
            <a:r>
              <a:rPr sz="1400">
                <a:solidFill>
                  <a:srgbClr val="282828"/>
                </a:solidFill>
                <a:latin typeface="Arial"/>
              </a:rPr>
              <a:t>3 copias de los datos de ventas y clientes, en 2 sitios distintos (disco duro local y nube), guardando 1 copia fuera del local.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6. Presupuesto y Retorno de 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Inversión en Equipos Físicos (OT): </a:t>
            </a:r>
            <a:r>
              <a:rPr sz="1400">
                <a:solidFill>
                  <a:srgbClr val="282828"/>
                </a:solidFill>
                <a:latin typeface="Arial"/>
              </a:rPr>
              <a:t>11.665 € (3 comanderos, 2 pantallas de cocina, cajón automático Cashlogy, TPV, lectores Zebra y sensores de frío).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Inversión en Software y Servicios (IT): </a:t>
            </a:r>
            <a:r>
              <a:rPr sz="1400">
                <a:solidFill>
                  <a:srgbClr val="282828"/>
                </a:solidFill>
                <a:latin typeface="Arial"/>
              </a:rPr>
              <a:t>1.750 € de instalación inicial + 4.684 € al año en programas (ERP, reservas, web y publicidad).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Ahorro directo en almacén: </a:t>
            </a:r>
            <a:r>
              <a:rPr sz="1400">
                <a:solidFill>
                  <a:srgbClr val="282828"/>
                </a:solidFill>
                <a:latin typeface="Arial"/>
              </a:rPr>
              <a:t>Se reduce un 15% la comida que se tiraba caducada gracias al control de compras y escandallos.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Aumento de ventas (+20%): </a:t>
            </a:r>
            <a:r>
              <a:rPr sz="1400">
                <a:solidFill>
                  <a:srgbClr val="282828"/>
                </a:solidFill>
                <a:latin typeface="Arial"/>
              </a:rPr>
              <a:t>Mayor rotación de mesas al mediodía (cobros en 2 minutos) y reservas online 24/7 sin perder clientes por teléfono.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Recuperación del dinero: </a:t>
            </a:r>
            <a:r>
              <a:rPr sz="1400">
                <a:solidFill>
                  <a:srgbClr val="282828"/>
                </a:solidFill>
                <a:latin typeface="Arial"/>
              </a:rPr>
              <a:t>La inversión total se amortiza en aproximadamente 11 meses de funcionamiento.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5082"/>
                </a:solidFill>
                <a:latin typeface="Arial"/>
              </a:defRPr>
            </a:pPr>
            <a:r>
              <a:t>DIGITALIZACIÓN APLICADA AL SECTOR PRODUCTIVO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325A"/>
                </a:solidFill>
                <a:latin typeface="Arial"/>
              </a:defRPr>
            </a:pPr>
            <a:r>
              <a:t>7. Conclusiones Finales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Fin del papel y los gritos: </a:t>
            </a:r>
            <a:r>
              <a:rPr sz="1400">
                <a:solidFill>
                  <a:srgbClr val="282828"/>
                </a:solidFill>
                <a:latin typeface="Arial"/>
              </a:rPr>
              <a:t>Pedidos claros y directos a cocina en segundos, sin confusiones con las alergias.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Control total del negocio: </a:t>
            </a:r>
            <a:r>
              <a:rPr sz="1400">
                <a:solidFill>
                  <a:srgbClr val="282828"/>
                </a:solidFill>
                <a:latin typeface="Arial"/>
              </a:rPr>
              <a:t>Saber en todo momento qué platos son rentables y cuánta comida comprar con datos reales.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Clientes mejor atendidos: </a:t>
            </a:r>
            <a:r>
              <a:rPr sz="1400">
                <a:solidFill>
                  <a:srgbClr val="282828"/>
                </a:solidFill>
                <a:latin typeface="Arial"/>
              </a:rPr>
              <a:t>Reservan fácil desde el móvil, los platos salen a su tiempo y el cobro en mesa es inmediato.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Seguridad garantizada: </a:t>
            </a:r>
            <a:r>
              <a:rPr sz="1400">
                <a:solidFill>
                  <a:srgbClr val="282828"/>
                </a:solidFill>
                <a:latin typeface="Arial"/>
              </a:rPr>
              <a:t>Cumplimiento sanitario estricto en cámaras de frío, dinero en caja protegido y datos a salvo.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325A"/>
                </a:solidFill>
                <a:latin typeface="Arial"/>
              </a:rPr>
              <a:t>•  Proyecto viable y realista: </a:t>
            </a:r>
            <a:r>
              <a:rPr sz="1400">
                <a:solidFill>
                  <a:srgbClr val="282828"/>
                </a:solidFill>
                <a:latin typeface="Arial"/>
              </a:rPr>
              <a:t>Una solución práctica pensada para un restaurante real que se paga sola en menos de un año.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